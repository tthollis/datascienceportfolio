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3.xml" ContentType="application/vnd.openxmlformats-officedocument.presentationml.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9"/>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Tim Hollis, and my topic today is on a tool designed to help job-seekers detect when a job posting matches the signature of known fraud postings. Over the next few minutes I'll cover what I found, including one result that reversed my starting assumption and one that changed my final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Job scams are big and getting bigger. The Federal Trade Commission says people reported losing more than 220 million dollars to them in just the first six months of 2024. I've built tools on this data twice before, and both did the same thing. They looked at a posting and said, this one seems fake. The trouble is that a warning with no reason attached is close to useless. A job seeker can't learn anything from it, and the company reviewing the posting can't check whether the tool was right. So this time I asked a different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asked three things. First, do fake postings actually resemble each other, or is every scam its own invention? Second, if they do resemble each other, how many types are there and what makes each one recognizable? Third, do the scams people run into today still look like the ones in my data? The rule I set for myself was that the computer never got to see which postings were fake while it was doing the sorting. I only checked the answers at the very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is just under eighteen thousand real job postings, collected by a recruiting site and marked legitimate or fraudulent by that site's own investigators. Two cleanup decisions turned out to matter. I noted which parts of a posting were missing before filling in any blanks, because a missing company description is itself a clue. And when I removed duplicate postings I counted them first, because scam postings get reposted far more often than real ones 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whole method in plain terms. First, turn every posting into a kind of fingerprint based on the words it uses. Second, simplify those fingerprints so similar ones sit near each other. Third, look for places where postings pile up, and let anything that doesn't fit stay unsorted rather than forcing it into a group. Fourth, read those piles and describe what they have in common. The picture on the right is the result. One big crowd of ordinary postings, ringed by dozens of small tight clumps. Those clumps are the rest of this talk.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do scams resemble each other? Partly. Fifteen of those clumps are packed with fraud, holding about four in every ten fake postings while making up less than six percent of everything. But the number that convinced me isn't on this chart. Remember the postings that didn't fit anywhere. If most scams were one-off improvisations, that leftover pile should have been full of them. It wasn't. It had slightly less fraud than average. Scammers work from templates. The honest caveat is that more than half of the fake postings still didn't land in a clump.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where the project proved me wrong. I assumed scammers reword the same pitch over and over, so I built the clever method first, the one that matches on meaning rather than exact wording. It lost. They don't reword anything. They copy and paste. The simpler method, the one that just compares the actual words used, found considerably more fraud for the same amount of reading. And the better discovery is that the two methods catch different scams. Run together, they surface about seven in every ten, while a person only has to read about one posting in ten.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Reading those clumps gave me four recognizable types. You spot the Bait Ad by what's missing: no company description, almost no application questions, and around eighty words total, a fifth the length of a normal posting. The Borrowed Brand steals a real company's description word for word and bolts it onto a job that doesn't exist. The Common Form is generic template text that both scammers and real employers use, which is why I won't treat it as proof. And the Ghost Agency, in blue, is the most dangerous. It looks more professional than the average real employer.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most striking thing I found. One scammer posted ninety nine fake jobs, sixty different job titles across twenty two cities, under two company names. That single person accounts for about one in seven of all the fraud in the data. No two postings are identical, because they varied the job description just enough to slip past duplicate detection. But the opening paragraph is the same every time, right down to the same spelling mistakes. Four phrases from that paragraph caught all ninety nine with no false alarms. Finding the pattern is expensive. Catching it afterward is nearly free.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Last question. Do these four types still describe what's out there now? I collected a hundred and sixty five real job postings this year and checked them against the patterns. They barely resemble them. On a scale where an ordinary old posting sits at the bottom and a known scam type sits at the top, today's postings moved less than a fifth of the way up. And only about half the words in a current posting are words my model had ever seen. Job posting language has moved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what would I tell someone running a job board. Use both matching methods rather than picking one, because together they catch seven scams in ten while a reviewer reads only one posting in ten. Use the pattern-finding to discover a campaign, then turn it into a keyword rule. Treat these four types as a reason to look closer, never as proof. In the group that runs ninety percent fraudulent, the two most typical postings are real gas station job ads, so automating action there punishes a real business for writing a short plain 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I'd rather finish on what I don't trust. The labels have a limit. I found identical company text where one posting is marked fraudulent and two others aren't, which means the original reviewers knew something that isn't in the words at all. One scammer accounts for one in seven of all the fraud, so part of what looks like a pattern is really one busy person. And my present-day sample came from reputable job boards, so it tells me whether these shapes survived, not whether they'd catch today's scams. The clumsiest fraud is the easiest to catch, and the most professional is the hardest.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last thing. I put these findings into the job checking tool I built earlier this year, and what I left out matters more than what I put in. The plan was to ship all four types. But today's postings barely resemble them, so that would have handed people a confident answer that meant nothing. The tool only carries the two things that still hold up: the exact scam wording, and the shape of an ad that tells you nothing about the job. The piece I was originally most confident in is the one I left out, because the tool should answer to what I measured, not to what I assumed going 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audio" Target="../media/narration1.mp3"/><Relationship Id="rId4" Type="http://schemas.microsoft.com/office/2007/relationships/media" Target="../media/narration1.mp3"/><Relationship Id="rId5" Type="http://schemas.openxmlformats.org/officeDocument/2006/relationships/image" Target="../media/audioIcon.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audio" Target="../media/narration2.mp3"/><Relationship Id="rId4" Type="http://schemas.microsoft.com/office/2007/relationships/media" Target="../media/narration2.mp3"/><Relationship Id="rId5" Type="http://schemas.openxmlformats.org/officeDocument/2006/relationships/image" Target="../media/audioIcon.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audio" Target="../media/narration3.mp3"/><Relationship Id="rId4" Type="http://schemas.microsoft.com/office/2007/relationships/media" Target="../media/narration3.mp3"/><Relationship Id="rId5" Type="http://schemas.openxmlformats.org/officeDocument/2006/relationships/image" Target="../media/audioIcon.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audio" Target="../media/narration4.mp3"/><Relationship Id="rId4" Type="http://schemas.microsoft.com/office/2007/relationships/media" Target="../media/narration4.mp3"/><Relationship Id="rId5" Type="http://schemas.openxmlformats.org/officeDocument/2006/relationships/image" Target="../media/audioIcon.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audio" Target="../media/narration5.mp3"/><Relationship Id="rId5" Type="http://schemas.microsoft.com/office/2007/relationships/media" Target="../media/narration5.mp3"/><Relationship Id="rId6" Type="http://schemas.openxmlformats.org/officeDocument/2006/relationships/image" Target="../media/audioIcon.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audio" Target="../media/narration6.mp3"/><Relationship Id="rId5" Type="http://schemas.microsoft.com/office/2007/relationships/media" Target="../media/narration6.mp3"/><Relationship Id="rId6" Type="http://schemas.openxmlformats.org/officeDocument/2006/relationships/image" Target="../media/audioIcon.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audio" Target="../media/narration7.mp3"/><Relationship Id="rId5" Type="http://schemas.microsoft.com/office/2007/relationships/media" Target="../media/narration7.mp3"/><Relationship Id="rId6" Type="http://schemas.openxmlformats.org/officeDocument/2006/relationships/image" Target="../media/audioIcon.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audio" Target="../media/narration8.mp3"/><Relationship Id="rId5" Type="http://schemas.microsoft.com/office/2007/relationships/media" Target="../media/narration8.mp3"/><Relationship Id="rId6" Type="http://schemas.openxmlformats.org/officeDocument/2006/relationships/image" Target="../media/audioIcon.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audio" Target="../media/narration9.mp3"/><Relationship Id="rId5" Type="http://schemas.microsoft.com/office/2007/relationships/media" Target="../media/narration9.mp3"/><Relationship Id="rId6" Type="http://schemas.openxmlformats.org/officeDocument/2006/relationships/image" Target="../media/audioIcon.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audio" Target="../media/narration10.mp3"/><Relationship Id="rId5" Type="http://schemas.microsoft.com/office/2007/relationships/media" Target="../media/narration10.mp3"/><Relationship Id="rId6" Type="http://schemas.openxmlformats.org/officeDocument/2006/relationships/image" Target="../media/audioIcon.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audio" Target="../media/narration11.mp3"/><Relationship Id="rId4" Type="http://schemas.microsoft.com/office/2007/relationships/media" Target="../media/narration11.mp3"/><Relationship Id="rId5" Type="http://schemas.openxmlformats.org/officeDocument/2006/relationships/image" Target="../media/audioIco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audio" Target="../media/narration12.mp3"/><Relationship Id="rId4" Type="http://schemas.microsoft.com/office/2007/relationships/media" Target="../media/narration12.mp3"/><Relationship Id="rId5" Type="http://schemas.openxmlformats.org/officeDocument/2006/relationships/image" Target="../media/audioIcon.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audio" Target="../media/narration13.mp3"/><Relationship Id="rId4" Type="http://schemas.microsoft.com/office/2007/relationships/media" Target="../media/narration13.mp3"/><Relationship Id="rId5" Type="http://schemas.openxmlformats.org/officeDocument/2006/relationships/image" Target="../media/audioIcon.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18288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Scam Signatures</a:t>
            </a:r>
            <a:endParaRPr lang="en-US" sz="5400" dirty="0"/>
          </a:p>
        </p:txBody>
      </p:sp>
      <p:sp>
        <p:nvSpPr>
          <p:cNvPr id="3" name="Text 1"/>
          <p:cNvSpPr txBox="1"/>
          <p:nvPr/>
        </p:nvSpPr>
        <p:spPr>
          <a:xfrm>
            <a:off x="822960" y="2880360"/>
            <a:ext cx="105156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Discovering fraud families in online job postings</a:t>
            </a:r>
            <a:endParaRPr lang="en-US" sz="2200" dirty="0"/>
          </a:p>
        </p:txBody>
      </p:sp>
      <p:sp>
        <p:nvSpPr>
          <p:cNvPr id="4" name="Text 2"/>
          <p:cNvSpPr txBox="1"/>
          <p:nvPr/>
        </p:nvSpPr>
        <p:spPr>
          <a:xfrm>
            <a:off x="822960" y="4846320"/>
            <a:ext cx="105156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Timothy Hollis</a:t>
            </a:r>
            <a:endParaRPr lang="en-US" sz="1600" dirty="0"/>
          </a:p>
        </p:txBody>
      </p:sp>
      <p:sp>
        <p:nvSpPr>
          <p:cNvPr id="5" name="Text 3"/>
          <p:cNvSpPr txBox="1"/>
          <p:nvPr/>
        </p:nvSpPr>
        <p:spPr>
          <a:xfrm>
            <a:off x="822960" y="5230368"/>
            <a:ext cx="10515600" cy="365760"/>
          </a:xfrm>
          <a:prstGeom prst="rect">
            <a:avLst/>
          </a:prstGeom>
          <a:noFill/>
          <a:ln/>
        </p:spPr>
        <p:txBody>
          <a:bodyPr wrap="square" lIns="0" tIns="0" rIns="0" bIns="0" rtlCol="0" anchor="ctr"/>
          <a:lstStyle/>
          <a:p>
            <a:pPr indent="0" marL="0">
              <a:buNone/>
            </a:pPr>
            <a:r>
              <a:rPr lang="en-US" sz="1300" dirty="0">
                <a:solidFill>
                  <a:srgbClr val="A9B6DC"/>
                </a:solidFill>
                <a:latin typeface="Calibri" pitchFamily="34" charset="0"/>
                <a:ea typeface="Calibri" pitchFamily="34" charset="-122"/>
                <a:cs typeface="Calibri" pitchFamily="34" charset="-120"/>
              </a:rPr>
              <a:t>DSC680 Applied Data Science  |  Professor Xu Ashton  |  Bellevue University</a:t>
            </a:r>
            <a:endParaRPr lang="en-US" sz="1300" dirty="0"/>
          </a:p>
        </p:txBody>
      </p:sp>
      <p:pic>
        <p:nvPicPr>
          <p:cNvPr id="6" name="Narration 1">
            <a:hlinkClick xmlns:r="http://schemas.openxmlformats.org/officeDocument/2006/relationships" r:id="" action="ppaction://media"/>
          </p:cNvPr>
          <p:cNvPicPr>
            <a:picLocks noChangeAspect="1"/>
          </p:cNvPicPr>
          <p:nvPr>
            <a:audioFile xmlns:r="http://schemas.openxmlformats.org/officeDocument/2006/relationships" r:link="rId3"/>
            <p:extLst>
              <p:ext uri="{DAA4B4D4-6D71-4841-9C94-3DE7FCFB9230}">
                <p14:media xmlns:p14="http://schemas.microsoft.com/office/powerpoint/2010/main" xmlns:r="http://schemas.openxmlformats.org/officeDocument/2006/relationships" r:embed="rId4"/>
              </p:ext>
            </p:extLst>
          </p:nvPr>
        </p:nvPicPr>
        <p:blipFill>
          <a:blip xmlns:r="http://schemas.openxmlformats.org/officeDocument/2006/relationships" r:embed="rId5"/>
          <a:stretch>
            <a:fillRect/>
          </a:stretch>
        </p:blipFill>
        <p:spPr>
          <a:xfrm>
            <a:off x="11800000" y="6450000"/>
            <a:ext cx="274320" cy="274320"/>
          </a:xfrm>
          <a:prstGeom prst="rect">
            <a:avLst/>
          </a:prstGeom>
        </p:spPr>
      </p:pic>
    </p:spTree>
  </p:cSld>
  <p:clrMapOvr>
    <a:masterClrMapping/>
  </p:clrMapOvr>
  <p:transition advTm="2038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2038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A verdict is not an explanation</a:t>
            </a:r>
            <a:endParaRPr lang="en-US" sz="3200" dirty="0"/>
          </a:p>
        </p:txBody>
      </p:sp>
      <p:sp>
        <p:nvSpPr>
          <p:cNvPr id="3" name="Shape 1"/>
          <p:cNvSpPr/>
          <p:nvPr/>
        </p:nvSpPr>
        <p:spPr>
          <a:xfrm>
            <a:off x="548640" y="1554480"/>
            <a:ext cx="5212080" cy="1920240"/>
          </a:xfrm>
          <a:prstGeom prst="roundRect">
            <a:avLst>
              <a:gd name="adj" fmla="val 3810"/>
            </a:avLst>
          </a:prstGeom>
          <a:solidFill>
            <a:srgbClr val="EEF2FC"/>
          </a:solidFill>
          <a:ln w="12700">
            <a:solidFill>
              <a:srgbClr val="EEF2FC"/>
            </a:solidFill>
            <a:prstDash val="solid"/>
          </a:ln>
        </p:spPr>
      </p:sp>
      <p:sp>
        <p:nvSpPr>
          <p:cNvPr id="4" name="Text 2"/>
          <p:cNvSpPr txBox="1"/>
          <p:nvPr/>
        </p:nvSpPr>
        <p:spPr>
          <a:xfrm>
            <a:off x="868680" y="1737360"/>
            <a:ext cx="4572000" cy="914400"/>
          </a:xfrm>
          <a:prstGeom prst="rect">
            <a:avLst/>
          </a:prstGeom>
          <a:noFill/>
          <a:ln/>
        </p:spPr>
        <p:txBody>
          <a:bodyPr wrap="square" lIns="0" tIns="0" rIns="0" bIns="0" rtlCol="0" anchor="ctr"/>
          <a:lstStyle/>
          <a:p>
            <a:pPr indent="0" marL="0">
              <a:buNone/>
            </a:pPr>
            <a:r>
              <a:rPr lang="en-US" sz="6000" b="1" dirty="0">
                <a:solidFill>
                  <a:srgbClr val="4169E1"/>
                </a:solidFill>
                <a:latin typeface="Calibri" pitchFamily="34" charset="0"/>
                <a:ea typeface="Calibri" pitchFamily="34" charset="-122"/>
                <a:cs typeface="Calibri" pitchFamily="34" charset="-120"/>
              </a:rPr>
              <a:t>$220M</a:t>
            </a:r>
            <a:endParaRPr lang="en-US" sz="6000" dirty="0"/>
          </a:p>
        </p:txBody>
      </p:sp>
      <p:sp>
        <p:nvSpPr>
          <p:cNvPr id="5" name="Text 3"/>
          <p:cNvSpPr txBox="1"/>
          <p:nvPr/>
        </p:nvSpPr>
        <p:spPr>
          <a:xfrm>
            <a:off x="868680" y="2697480"/>
            <a:ext cx="4572000" cy="640080"/>
          </a:xfrm>
          <a:prstGeom prst="rect">
            <a:avLst/>
          </a:prstGeom>
          <a:noFill/>
          <a:ln/>
        </p:spPr>
        <p:txBody>
          <a:bodyPr wrap="square" lIns="0" tIns="0" rIns="0" bIns="0" rtlCol="0" anchor="ctr"/>
          <a:lstStyle/>
          <a:p>
            <a:pPr indent="0" marL="0">
              <a:buNone/>
            </a:pPr>
            <a:r>
              <a:rPr lang="en-US" sz="1300" dirty="0">
                <a:solidFill>
                  <a:srgbClr val="5A5A66"/>
                </a:solidFill>
                <a:latin typeface="Calibri" pitchFamily="34" charset="0"/>
                <a:ea typeface="Calibri" pitchFamily="34" charset="-122"/>
                <a:cs typeface="Calibri" pitchFamily="34" charset="-120"/>
              </a:rPr>
              <a:t>reported lost to job scams in the first half of 2024 alone (FTC, 2024)</a:t>
            </a:r>
            <a:endParaRPr lang="en-US" sz="1300" dirty="0"/>
          </a:p>
        </p:txBody>
      </p:sp>
      <p:sp>
        <p:nvSpPr>
          <p:cNvPr id="6" name="Shape 4"/>
          <p:cNvSpPr/>
          <p:nvPr/>
        </p:nvSpPr>
        <p:spPr>
          <a:xfrm>
            <a:off x="6309360" y="1554480"/>
            <a:ext cx="5303520" cy="1920240"/>
          </a:xfrm>
          <a:prstGeom prst="roundRect">
            <a:avLst>
              <a:gd name="adj" fmla="val 3810"/>
            </a:avLst>
          </a:prstGeom>
          <a:solidFill>
            <a:srgbClr val="EEF2FC"/>
          </a:solidFill>
          <a:ln w="12700">
            <a:solidFill>
              <a:srgbClr val="EEF2FC"/>
            </a:solidFill>
            <a:prstDash val="solid"/>
          </a:ln>
        </p:spPr>
      </p:sp>
      <p:sp>
        <p:nvSpPr>
          <p:cNvPr id="7" name="Text 5"/>
          <p:cNvSpPr txBox="1"/>
          <p:nvPr/>
        </p:nvSpPr>
        <p:spPr>
          <a:xfrm>
            <a:off x="6629400" y="1737360"/>
            <a:ext cx="4663440" cy="914400"/>
          </a:xfrm>
          <a:prstGeom prst="rect">
            <a:avLst/>
          </a:prstGeom>
          <a:noFill/>
          <a:ln/>
        </p:spPr>
        <p:txBody>
          <a:bodyPr wrap="square" lIns="0" tIns="0" rIns="0" bIns="0" rtlCol="0" anchor="ctr"/>
          <a:lstStyle/>
          <a:p>
            <a:pPr indent="0" marL="0">
              <a:buNone/>
            </a:pPr>
            <a:r>
              <a:rPr lang="en-US" sz="6000" b="1" dirty="0">
                <a:solidFill>
                  <a:srgbClr val="E69F00"/>
                </a:solidFill>
                <a:latin typeface="Calibri" pitchFamily="34" charset="0"/>
                <a:ea typeface="Calibri" pitchFamily="34" charset="-122"/>
                <a:cs typeface="Calibri" pitchFamily="34" charset="-120"/>
              </a:rPr>
              <a:t>4.8%</a:t>
            </a:r>
            <a:endParaRPr lang="en-US" sz="6000" dirty="0"/>
          </a:p>
        </p:txBody>
      </p:sp>
      <p:sp>
        <p:nvSpPr>
          <p:cNvPr id="8" name="Text 6"/>
          <p:cNvSpPr txBox="1"/>
          <p:nvPr/>
        </p:nvSpPr>
        <p:spPr>
          <a:xfrm>
            <a:off x="6629400" y="2697480"/>
            <a:ext cx="4663440" cy="640080"/>
          </a:xfrm>
          <a:prstGeom prst="rect">
            <a:avLst/>
          </a:prstGeom>
          <a:noFill/>
          <a:ln/>
        </p:spPr>
        <p:txBody>
          <a:bodyPr wrap="square" lIns="0" tIns="0" rIns="0" bIns="0" rtlCol="0" anchor="ctr"/>
          <a:lstStyle/>
          <a:p>
            <a:pPr indent="0" marL="0">
              <a:buNone/>
            </a:pPr>
            <a:r>
              <a:rPr lang="en-US" sz="1300" dirty="0">
                <a:solidFill>
                  <a:srgbClr val="5A5A66"/>
                </a:solidFill>
                <a:latin typeface="Calibri" pitchFamily="34" charset="0"/>
                <a:ea typeface="Calibri" pitchFamily="34" charset="-122"/>
                <a:cs typeface="Calibri" pitchFamily="34" charset="-120"/>
              </a:rPr>
              <a:t>of the 17,880 postings in the research dataset are annotated fraudulent</a:t>
            </a:r>
            <a:endParaRPr lang="en-US" sz="1300" dirty="0"/>
          </a:p>
        </p:txBody>
      </p:sp>
      <p:sp>
        <p:nvSpPr>
          <p:cNvPr id="9" name="Text 7"/>
          <p:cNvSpPr txBox="1"/>
          <p:nvPr/>
        </p:nvSpPr>
        <p:spPr>
          <a:xfrm>
            <a:off x="548640" y="3840480"/>
            <a:ext cx="11064240" cy="219456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I have built a classifier and a fine-tuned language model on this data before. Both answer one question: is this posting fraudulent?</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A verdict with no explanation is hard for a job seeker to act on and hard for a trust and safety team to audit.</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So this project drops the label and asks a different question entirely.</a:t>
            </a:r>
            <a:endParaRPr lang="en-US" sz="1600" dirty="0"/>
          </a:p>
        </p:txBody>
      </p:sp>
      <p:pic>
        <p:nvPicPr>
          <p:cNvPr id="10" name="Narration 2">
            <a:hlinkClick xmlns:r="http://schemas.openxmlformats.org/officeDocument/2006/relationships" r:id="" action="ppaction://media"/>
          </p:cNvPr>
          <p:cNvPicPr>
            <a:picLocks noChangeAspect="1"/>
          </p:cNvPicPr>
          <p:nvPr>
            <a:audioFile xmlns:r="http://schemas.openxmlformats.org/officeDocument/2006/relationships" r:link="rId3"/>
            <p:extLst>
              <p:ext uri="{DAA4B4D4-6D71-4841-9C94-3DE7FCFB9230}">
                <p14:media xmlns:p14="http://schemas.microsoft.com/office/powerpoint/2010/main" xmlns:r="http://schemas.openxmlformats.org/officeDocument/2006/relationships" r:embed="rId4"/>
              </p:ext>
            </p:extLst>
          </p:nvPr>
        </p:nvPicPr>
        <p:blipFill>
          <a:blip xmlns:r="http://schemas.openxmlformats.org/officeDocument/2006/relationships" r:embed="rId5"/>
          <a:stretch>
            <a:fillRect/>
          </a:stretch>
        </p:blipFill>
        <p:spPr>
          <a:xfrm>
            <a:off x="11800000" y="6450000"/>
            <a:ext cx="274320" cy="274320"/>
          </a:xfrm>
          <a:prstGeom prst="rect">
            <a:avLst/>
          </a:prstGeom>
        </p:spPr>
      </p:pic>
    </p:spTree>
  </p:cSld>
  <p:clrMapOvr>
    <a:masterClrMapping/>
  </p:clrMapOvr>
  <p:transition advTm="3622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3622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10"/>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Three questions, with the label withheld</a:t>
            </a:r>
            <a:endParaRPr lang="en-US" sz="3200" dirty="0"/>
          </a:p>
        </p:txBody>
      </p:sp>
      <p:sp>
        <p:nvSpPr>
          <p:cNvPr id="3" name="Shape 1"/>
          <p:cNvSpPr/>
          <p:nvPr/>
        </p:nvSpPr>
        <p:spPr>
          <a:xfrm>
            <a:off x="548640" y="1508760"/>
            <a:ext cx="3538728" cy="3840480"/>
          </a:xfrm>
          <a:prstGeom prst="roundRect">
            <a:avLst>
              <a:gd name="adj" fmla="val 2067"/>
            </a:avLst>
          </a:prstGeom>
          <a:solidFill>
            <a:srgbClr val="EEF2FC"/>
          </a:solidFill>
          <a:ln w="12700">
            <a:solidFill>
              <a:srgbClr val="EEF2FC"/>
            </a:solidFill>
            <a:prstDash val="solid"/>
          </a:ln>
        </p:spPr>
      </p:sp>
      <p:sp>
        <p:nvSpPr>
          <p:cNvPr id="4" name="Text 2"/>
          <p:cNvSpPr txBox="1"/>
          <p:nvPr/>
        </p:nvSpPr>
        <p:spPr>
          <a:xfrm>
            <a:off x="822960" y="1691640"/>
            <a:ext cx="914400" cy="731520"/>
          </a:xfrm>
          <a:prstGeom prst="rect">
            <a:avLst/>
          </a:prstGeom>
          <a:noFill/>
          <a:ln/>
        </p:spPr>
        <p:txBody>
          <a:bodyPr wrap="square" lIns="0" tIns="0" rIns="0" bIns="0" rtlCol="0" anchor="ctr"/>
          <a:lstStyle/>
          <a:p>
            <a:pPr indent="0" marL="0">
              <a:buNone/>
            </a:pPr>
            <a:r>
              <a:rPr lang="en-US" sz="4000" b="1" dirty="0">
                <a:solidFill>
                  <a:srgbClr val="4169E1"/>
                </a:solidFill>
                <a:latin typeface="Calibri" pitchFamily="34" charset="0"/>
                <a:ea typeface="Calibri" pitchFamily="34" charset="-122"/>
                <a:cs typeface="Calibri" pitchFamily="34" charset="-120"/>
              </a:rPr>
              <a:t>1</a:t>
            </a:r>
            <a:endParaRPr lang="en-US" sz="4000" dirty="0"/>
          </a:p>
        </p:txBody>
      </p:sp>
      <p:sp>
        <p:nvSpPr>
          <p:cNvPr id="5" name="Text 3"/>
          <p:cNvSpPr txBox="1"/>
          <p:nvPr/>
        </p:nvSpPr>
        <p:spPr>
          <a:xfrm>
            <a:off x="822960" y="2514600"/>
            <a:ext cx="3017520" cy="73152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Does fraud concentrate?</a:t>
            </a:r>
            <a:endParaRPr lang="en-US" sz="2000" dirty="0"/>
          </a:p>
        </p:txBody>
      </p:sp>
      <p:sp>
        <p:nvSpPr>
          <p:cNvPr id="6" name="Text 4"/>
          <p:cNvSpPr txBox="1"/>
          <p:nvPr/>
        </p:nvSpPr>
        <p:spPr>
          <a:xfrm>
            <a:off x="822960" y="3291840"/>
            <a:ext cx="3017520" cy="1828800"/>
          </a:xfrm>
          <a:prstGeom prst="rect">
            <a:avLst/>
          </a:prstGeom>
          <a:noFill/>
          <a:ln/>
        </p:spPr>
        <p:txBody>
          <a:bodyPr wrap="square" lIns="0" tIns="0" rIns="0" bIns="0" rtlCol="0" anchor="ctr"/>
          <a:lstStyle/>
          <a:p>
            <a:pPr indent="0" marL="0">
              <a:buNone/>
            </a:pPr>
            <a:r>
              <a:rPr lang="en-US" sz="1400" dirty="0">
                <a:solidFill>
                  <a:srgbClr val="5A5A66"/>
                </a:solidFill>
                <a:latin typeface="Calibri" pitchFamily="34" charset="0"/>
                <a:ea typeface="Calibri" pitchFamily="34" charset="-122"/>
                <a:cs typeface="Calibri" pitchFamily="34" charset="-120"/>
              </a:rPr>
              <a:t>When postings are grouped by language alone, do fraudulent ones cluster together or scatter among the legitimate?</a:t>
            </a:r>
            <a:endParaRPr lang="en-US" sz="1400" dirty="0"/>
          </a:p>
        </p:txBody>
      </p:sp>
      <p:sp>
        <p:nvSpPr>
          <p:cNvPr id="7" name="Shape 5"/>
          <p:cNvSpPr/>
          <p:nvPr/>
        </p:nvSpPr>
        <p:spPr>
          <a:xfrm>
            <a:off x="4270248" y="1508760"/>
            <a:ext cx="3538728" cy="3840480"/>
          </a:xfrm>
          <a:prstGeom prst="roundRect">
            <a:avLst>
              <a:gd name="adj" fmla="val 2067"/>
            </a:avLst>
          </a:prstGeom>
          <a:solidFill>
            <a:srgbClr val="EEF2FC"/>
          </a:solidFill>
          <a:ln w="12700">
            <a:solidFill>
              <a:srgbClr val="EEF2FC"/>
            </a:solidFill>
            <a:prstDash val="solid"/>
          </a:ln>
        </p:spPr>
      </p:sp>
      <p:sp>
        <p:nvSpPr>
          <p:cNvPr id="8" name="Text 6"/>
          <p:cNvSpPr txBox="1"/>
          <p:nvPr/>
        </p:nvSpPr>
        <p:spPr>
          <a:xfrm>
            <a:off x="4544568" y="1691640"/>
            <a:ext cx="914400" cy="731520"/>
          </a:xfrm>
          <a:prstGeom prst="rect">
            <a:avLst/>
          </a:prstGeom>
          <a:noFill/>
          <a:ln/>
        </p:spPr>
        <p:txBody>
          <a:bodyPr wrap="square" lIns="0" tIns="0" rIns="0" bIns="0" rtlCol="0" anchor="ctr"/>
          <a:lstStyle/>
          <a:p>
            <a:pPr indent="0" marL="0">
              <a:buNone/>
            </a:pPr>
            <a:r>
              <a:rPr lang="en-US" sz="4000" b="1" dirty="0">
                <a:solidFill>
                  <a:srgbClr val="4169E1"/>
                </a:solidFill>
                <a:latin typeface="Calibri" pitchFamily="34" charset="0"/>
                <a:ea typeface="Calibri" pitchFamily="34" charset="-122"/>
                <a:cs typeface="Calibri" pitchFamily="34" charset="-120"/>
              </a:rPr>
              <a:t>2</a:t>
            </a:r>
            <a:endParaRPr lang="en-US" sz="4000" dirty="0"/>
          </a:p>
        </p:txBody>
      </p:sp>
      <p:sp>
        <p:nvSpPr>
          <p:cNvPr id="9" name="Text 7"/>
          <p:cNvSpPr txBox="1"/>
          <p:nvPr/>
        </p:nvSpPr>
        <p:spPr>
          <a:xfrm>
            <a:off x="4544568" y="2514600"/>
            <a:ext cx="3017520" cy="73152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How many signatures exist?</a:t>
            </a:r>
            <a:endParaRPr lang="en-US" sz="2000" dirty="0"/>
          </a:p>
        </p:txBody>
      </p:sp>
      <p:sp>
        <p:nvSpPr>
          <p:cNvPr id="10" name="Text 8"/>
          <p:cNvSpPr txBox="1"/>
          <p:nvPr/>
        </p:nvSpPr>
        <p:spPr>
          <a:xfrm>
            <a:off x="4544568" y="3291840"/>
            <a:ext cx="3017520" cy="1828800"/>
          </a:xfrm>
          <a:prstGeom prst="rect">
            <a:avLst/>
          </a:prstGeom>
          <a:noFill/>
          <a:ln/>
        </p:spPr>
        <p:txBody>
          <a:bodyPr wrap="square" lIns="0" tIns="0" rIns="0" bIns="0" rtlCol="0" anchor="ctr"/>
          <a:lstStyle/>
          <a:p>
            <a:pPr indent="0" marL="0">
              <a:buNone/>
            </a:pPr>
            <a:r>
              <a:rPr lang="en-US" sz="1400" dirty="0">
                <a:solidFill>
                  <a:srgbClr val="5A5A66"/>
                </a:solidFill>
                <a:latin typeface="Calibri" pitchFamily="34" charset="0"/>
                <a:ea typeface="Calibri" pitchFamily="34" charset="-122"/>
                <a:cs typeface="Calibri" pitchFamily="34" charset="-120"/>
              </a:rPr>
              <a:t>If they do concentrate, how many distinct shapes are there, and what defines each one?</a:t>
            </a:r>
            <a:endParaRPr lang="en-US" sz="1400" dirty="0"/>
          </a:p>
        </p:txBody>
      </p:sp>
      <p:sp>
        <p:nvSpPr>
          <p:cNvPr id="11" name="Shape 9"/>
          <p:cNvSpPr/>
          <p:nvPr/>
        </p:nvSpPr>
        <p:spPr>
          <a:xfrm>
            <a:off x="7991856" y="1508760"/>
            <a:ext cx="3538728" cy="3840480"/>
          </a:xfrm>
          <a:prstGeom prst="roundRect">
            <a:avLst>
              <a:gd name="adj" fmla="val 2067"/>
            </a:avLst>
          </a:prstGeom>
          <a:solidFill>
            <a:srgbClr val="EEF2FC"/>
          </a:solidFill>
          <a:ln w="12700">
            <a:solidFill>
              <a:srgbClr val="EEF2FC"/>
            </a:solidFill>
            <a:prstDash val="solid"/>
          </a:ln>
        </p:spPr>
      </p:sp>
      <p:sp>
        <p:nvSpPr>
          <p:cNvPr id="12" name="Text 10"/>
          <p:cNvSpPr txBox="1"/>
          <p:nvPr/>
        </p:nvSpPr>
        <p:spPr>
          <a:xfrm>
            <a:off x="8266176" y="1691640"/>
            <a:ext cx="914400" cy="731520"/>
          </a:xfrm>
          <a:prstGeom prst="rect">
            <a:avLst/>
          </a:prstGeom>
          <a:noFill/>
          <a:ln/>
        </p:spPr>
        <p:txBody>
          <a:bodyPr wrap="square" lIns="0" tIns="0" rIns="0" bIns="0" rtlCol="0" anchor="ctr"/>
          <a:lstStyle/>
          <a:p>
            <a:pPr indent="0" marL="0">
              <a:buNone/>
            </a:pPr>
            <a:r>
              <a:rPr lang="en-US" sz="4000" b="1" dirty="0">
                <a:solidFill>
                  <a:srgbClr val="4169E1"/>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8266176" y="2514600"/>
            <a:ext cx="3017520" cy="73152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Do they still hold?</a:t>
            </a:r>
            <a:endParaRPr lang="en-US" sz="2000" dirty="0"/>
          </a:p>
        </p:txBody>
      </p:sp>
      <p:sp>
        <p:nvSpPr>
          <p:cNvPr id="14" name="Text 12"/>
          <p:cNvSpPr txBox="1"/>
          <p:nvPr/>
        </p:nvSpPr>
        <p:spPr>
          <a:xfrm>
            <a:off x="8266176" y="3291840"/>
            <a:ext cx="3017520" cy="1828800"/>
          </a:xfrm>
          <a:prstGeom prst="rect">
            <a:avLst/>
          </a:prstGeom>
          <a:noFill/>
          <a:ln/>
        </p:spPr>
        <p:txBody>
          <a:bodyPr wrap="square" lIns="0" tIns="0" rIns="0" bIns="0" rtlCol="0" anchor="ctr"/>
          <a:lstStyle/>
          <a:p>
            <a:pPr indent="0" marL="0">
              <a:buNone/>
            </a:pPr>
            <a:r>
              <a:rPr lang="en-US" sz="1400" dirty="0">
                <a:solidFill>
                  <a:srgbClr val="5A5A66"/>
                </a:solidFill>
                <a:latin typeface="Calibri" pitchFamily="34" charset="0"/>
                <a:ea typeface="Calibri" pitchFamily="34" charset="-122"/>
                <a:cs typeface="Calibri" pitchFamily="34" charset="-120"/>
              </a:rPr>
              <a:t>Do postings written today fall into those same signatures, or has the language moved on?</a:t>
            </a:r>
            <a:endParaRPr lang="en-US" sz="1400" dirty="0"/>
          </a:p>
        </p:txBody>
      </p:sp>
      <p:sp>
        <p:nvSpPr>
          <p:cNvPr id="15" name="Text 13"/>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The fraud label is hidden during all modeling and revealed only afterward, to score what the clustering found.</a:t>
            </a:r>
            <a:endParaRPr lang="en-US" sz="1500" dirty="0"/>
          </a:p>
        </p:txBody>
      </p:sp>
      <p:pic>
        <p:nvPicPr>
          <p:cNvPr id="16" name="Narration 3">
            <a:hlinkClick xmlns:r="http://schemas.openxmlformats.org/officeDocument/2006/relationships" r:id="" action="ppaction://media"/>
          </p:cNvPr>
          <p:cNvPicPr>
            <a:picLocks noChangeAspect="1"/>
          </p:cNvPicPr>
          <p:nvPr>
            <a:audioFile xmlns:r="http://schemas.openxmlformats.org/officeDocument/2006/relationships" r:link="rId3"/>
            <p:extLst>
              <p:ext uri="{DAA4B4D4-6D71-4841-9C94-3DE7FCFB9230}">
                <p14:media xmlns:p14="http://schemas.microsoft.com/office/powerpoint/2010/main" xmlns:r="http://schemas.openxmlformats.org/officeDocument/2006/relationships" r:embed="rId4"/>
              </p:ext>
            </p:extLst>
          </p:nvPr>
        </p:nvPicPr>
        <p:blipFill>
          <a:blip xmlns:r="http://schemas.openxmlformats.org/officeDocument/2006/relationships" r:embed="rId5"/>
          <a:stretch>
            <a:fillRect/>
          </a:stretch>
        </p:blipFill>
        <p:spPr>
          <a:xfrm>
            <a:off x="11800000" y="6450000"/>
            <a:ext cx="274320" cy="274320"/>
          </a:xfrm>
          <a:prstGeom prst="rect">
            <a:avLst/>
          </a:prstGeom>
        </p:spPr>
      </p:pic>
    </p:spTree>
  </p:cSld>
  <p:clrMapOvr>
    <a:masterClrMapping/>
  </p:clrMapOvr>
  <p:transition advTm="3646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3646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16"/>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Real postings, prepared in five reproducible steps</a:t>
            </a:r>
            <a:endParaRPr lang="en-US" sz="3200" dirty="0"/>
          </a:p>
        </p:txBody>
      </p:sp>
      <p:sp>
        <p:nvSpPr>
          <p:cNvPr id="3" name="Shape 1"/>
          <p:cNvSpPr/>
          <p:nvPr/>
        </p:nvSpPr>
        <p:spPr>
          <a:xfrm>
            <a:off x="548640" y="1554480"/>
            <a:ext cx="3538728" cy="1828800"/>
          </a:xfrm>
          <a:prstGeom prst="roundRect">
            <a:avLst>
              <a:gd name="adj" fmla="val 4000"/>
            </a:avLst>
          </a:prstGeom>
          <a:solidFill>
            <a:srgbClr val="EEF2FC"/>
          </a:solidFill>
          <a:ln w="12700">
            <a:solidFill>
              <a:srgbClr val="EEF2FC"/>
            </a:solidFill>
            <a:prstDash val="solid"/>
          </a:ln>
        </p:spPr>
      </p:sp>
      <p:sp>
        <p:nvSpPr>
          <p:cNvPr id="4" name="Text 2"/>
          <p:cNvSpPr txBox="1"/>
          <p:nvPr/>
        </p:nvSpPr>
        <p:spPr>
          <a:xfrm>
            <a:off x="822960" y="1737360"/>
            <a:ext cx="3017520" cy="822960"/>
          </a:xfrm>
          <a:prstGeom prst="rect">
            <a:avLst/>
          </a:prstGeom>
          <a:noFill/>
          <a:ln/>
        </p:spPr>
        <p:txBody>
          <a:bodyPr wrap="square" lIns="0" tIns="0" rIns="0" bIns="0" rtlCol="0" anchor="ctr"/>
          <a:lstStyle/>
          <a:p>
            <a:pPr indent="0" marL="0">
              <a:buNone/>
            </a:pPr>
            <a:r>
              <a:rPr lang="en-US" sz="4400" b="1" dirty="0">
                <a:solidFill>
                  <a:srgbClr val="4169E1"/>
                </a:solidFill>
                <a:latin typeface="Calibri" pitchFamily="34" charset="0"/>
                <a:ea typeface="Calibri" pitchFamily="34" charset="-122"/>
                <a:cs typeface="Calibri" pitchFamily="34" charset="-120"/>
              </a:rPr>
              <a:t>17,880</a:t>
            </a:r>
            <a:endParaRPr lang="en-US" sz="4400" dirty="0"/>
          </a:p>
        </p:txBody>
      </p:sp>
      <p:sp>
        <p:nvSpPr>
          <p:cNvPr id="5" name="Text 3"/>
          <p:cNvSpPr txBox="1"/>
          <p:nvPr/>
        </p:nvSpPr>
        <p:spPr>
          <a:xfrm>
            <a:off x="822960" y="2578608"/>
            <a:ext cx="3017520" cy="731520"/>
          </a:xfrm>
          <a:prstGeom prst="rect">
            <a:avLst/>
          </a:prstGeom>
          <a:noFill/>
          <a:ln/>
        </p:spPr>
        <p:txBody>
          <a:bodyPr wrap="square" lIns="0" tIns="0" rIns="0" bIns="0" rtlCol="0" anchor="ctr"/>
          <a:lstStyle/>
          <a:p>
            <a:pPr indent="0" marL="0">
              <a:buNone/>
            </a:pPr>
            <a:r>
              <a:rPr lang="en-US" sz="1300" dirty="0">
                <a:solidFill>
                  <a:srgbClr val="5A5A66"/>
                </a:solidFill>
                <a:latin typeface="Calibri" pitchFamily="34" charset="0"/>
                <a:ea typeface="Calibri" pitchFamily="34" charset="-122"/>
                <a:cs typeface="Calibri" pitchFamily="34" charset="-120"/>
              </a:rPr>
              <a:t>real postings collected</a:t>
            </a:r>
            <a:endParaRPr lang="en-US" sz="1300" dirty="0"/>
          </a:p>
          <a:p>
            <a:pPr indent="0" marL="0">
              <a:buNone/>
            </a:pPr>
            <a:r>
              <a:rPr lang="en-US" sz="1300" dirty="0">
                <a:solidFill>
                  <a:srgbClr val="5A5A66"/>
                </a:solidFill>
                <a:latin typeface="Calibri" pitchFamily="34" charset="0"/>
                <a:ea typeface="Calibri" pitchFamily="34" charset="-122"/>
                <a:cs typeface="Calibri" pitchFamily="34" charset="-120"/>
              </a:rPr>
              <a:t>2012 to 2014</a:t>
            </a:r>
            <a:endParaRPr lang="en-US" sz="1300" dirty="0"/>
          </a:p>
        </p:txBody>
      </p:sp>
      <p:sp>
        <p:nvSpPr>
          <p:cNvPr id="6" name="Shape 4"/>
          <p:cNvSpPr/>
          <p:nvPr/>
        </p:nvSpPr>
        <p:spPr>
          <a:xfrm>
            <a:off x="4270248" y="1554480"/>
            <a:ext cx="3538728" cy="1828800"/>
          </a:xfrm>
          <a:prstGeom prst="roundRect">
            <a:avLst>
              <a:gd name="adj" fmla="val 4000"/>
            </a:avLst>
          </a:prstGeom>
          <a:solidFill>
            <a:srgbClr val="EEF2FC"/>
          </a:solidFill>
          <a:ln w="12700">
            <a:solidFill>
              <a:srgbClr val="EEF2FC"/>
            </a:solidFill>
            <a:prstDash val="solid"/>
          </a:ln>
        </p:spPr>
      </p:sp>
      <p:sp>
        <p:nvSpPr>
          <p:cNvPr id="7" name="Text 5"/>
          <p:cNvSpPr txBox="1"/>
          <p:nvPr/>
        </p:nvSpPr>
        <p:spPr>
          <a:xfrm>
            <a:off x="4544568" y="1737360"/>
            <a:ext cx="3017520" cy="822960"/>
          </a:xfrm>
          <a:prstGeom prst="rect">
            <a:avLst/>
          </a:prstGeom>
          <a:noFill/>
          <a:ln/>
        </p:spPr>
        <p:txBody>
          <a:bodyPr wrap="square" lIns="0" tIns="0" rIns="0" bIns="0" rtlCol="0" anchor="ctr"/>
          <a:lstStyle/>
          <a:p>
            <a:pPr indent="0" marL="0">
              <a:buNone/>
            </a:pPr>
            <a:r>
              <a:rPr lang="en-US" sz="4400" b="1" dirty="0">
                <a:solidFill>
                  <a:srgbClr val="E69F00"/>
                </a:solidFill>
                <a:latin typeface="Calibri" pitchFamily="34" charset="0"/>
                <a:ea typeface="Calibri" pitchFamily="34" charset="-122"/>
                <a:cs typeface="Calibri" pitchFamily="34" charset="-120"/>
              </a:rPr>
              <a:t>2,008</a:t>
            </a:r>
            <a:endParaRPr lang="en-US" sz="4400" dirty="0"/>
          </a:p>
        </p:txBody>
      </p:sp>
      <p:sp>
        <p:nvSpPr>
          <p:cNvPr id="8" name="Text 6"/>
          <p:cNvSpPr txBox="1"/>
          <p:nvPr/>
        </p:nvSpPr>
        <p:spPr>
          <a:xfrm>
            <a:off x="4544568" y="2578608"/>
            <a:ext cx="3017520" cy="731520"/>
          </a:xfrm>
          <a:prstGeom prst="rect">
            <a:avLst/>
          </a:prstGeom>
          <a:noFill/>
          <a:ln/>
        </p:spPr>
        <p:txBody>
          <a:bodyPr wrap="square" lIns="0" tIns="0" rIns="0" bIns="0" rtlCol="0" anchor="ctr"/>
          <a:lstStyle/>
          <a:p>
            <a:pPr indent="0" marL="0">
              <a:buNone/>
            </a:pPr>
            <a:r>
              <a:rPr lang="en-US" sz="1300" dirty="0">
                <a:solidFill>
                  <a:srgbClr val="5A5A66"/>
                </a:solidFill>
                <a:latin typeface="Calibri" pitchFamily="34" charset="0"/>
                <a:ea typeface="Calibri" pitchFamily="34" charset="-122"/>
                <a:cs typeface="Calibri" pitchFamily="34" charset="-120"/>
              </a:rPr>
              <a:t>rows removed</a:t>
            </a:r>
            <a:endParaRPr lang="en-US" sz="1300" dirty="0"/>
          </a:p>
          <a:p>
            <a:pPr indent="0" marL="0">
              <a:buNone/>
            </a:pPr>
            <a:r>
              <a:rPr lang="en-US" sz="1300" dirty="0">
                <a:solidFill>
                  <a:srgbClr val="5A5A66"/>
                </a:solidFill>
                <a:latin typeface="Calibri" pitchFamily="34" charset="0"/>
                <a:ea typeface="Calibri" pitchFamily="34" charset="-122"/>
                <a:cs typeface="Calibri" pitchFamily="34" charset="-120"/>
              </a:rPr>
              <a:t>duplicates and empties</a:t>
            </a:r>
            <a:endParaRPr lang="en-US" sz="1300" dirty="0"/>
          </a:p>
        </p:txBody>
      </p:sp>
      <p:sp>
        <p:nvSpPr>
          <p:cNvPr id="9" name="Shape 7"/>
          <p:cNvSpPr/>
          <p:nvPr/>
        </p:nvSpPr>
        <p:spPr>
          <a:xfrm>
            <a:off x="7991856" y="1554480"/>
            <a:ext cx="3538728" cy="1828800"/>
          </a:xfrm>
          <a:prstGeom prst="roundRect">
            <a:avLst>
              <a:gd name="adj" fmla="val 4000"/>
            </a:avLst>
          </a:prstGeom>
          <a:solidFill>
            <a:srgbClr val="EEF2FC"/>
          </a:solidFill>
          <a:ln w="12700">
            <a:solidFill>
              <a:srgbClr val="EEF2FC"/>
            </a:solidFill>
            <a:prstDash val="solid"/>
          </a:ln>
        </p:spPr>
      </p:sp>
      <p:sp>
        <p:nvSpPr>
          <p:cNvPr id="10" name="Text 8"/>
          <p:cNvSpPr txBox="1"/>
          <p:nvPr/>
        </p:nvSpPr>
        <p:spPr>
          <a:xfrm>
            <a:off x="8266176" y="1737360"/>
            <a:ext cx="3017520" cy="822960"/>
          </a:xfrm>
          <a:prstGeom prst="rect">
            <a:avLst/>
          </a:prstGeom>
          <a:noFill/>
          <a:ln/>
        </p:spPr>
        <p:txBody>
          <a:bodyPr wrap="square" lIns="0" tIns="0" rIns="0" bIns="0" rtlCol="0" anchor="ctr"/>
          <a:lstStyle/>
          <a:p>
            <a:pPr indent="0" marL="0">
              <a:buNone/>
            </a:pPr>
            <a:r>
              <a:rPr lang="en-US" sz="4400" b="1" dirty="0">
                <a:solidFill>
                  <a:srgbClr val="4169E1"/>
                </a:solidFill>
                <a:latin typeface="Calibri" pitchFamily="34" charset="0"/>
                <a:ea typeface="Calibri" pitchFamily="34" charset="-122"/>
                <a:cs typeface="Calibri" pitchFamily="34" charset="-120"/>
              </a:rPr>
              <a:t>15,872</a:t>
            </a:r>
            <a:endParaRPr lang="en-US" sz="4400" dirty="0"/>
          </a:p>
        </p:txBody>
      </p:sp>
      <p:sp>
        <p:nvSpPr>
          <p:cNvPr id="11" name="Text 9"/>
          <p:cNvSpPr txBox="1"/>
          <p:nvPr/>
        </p:nvSpPr>
        <p:spPr>
          <a:xfrm>
            <a:off x="8266176" y="2578608"/>
            <a:ext cx="3017520" cy="731520"/>
          </a:xfrm>
          <a:prstGeom prst="rect">
            <a:avLst/>
          </a:prstGeom>
          <a:noFill/>
          <a:ln/>
        </p:spPr>
        <p:txBody>
          <a:bodyPr wrap="square" lIns="0" tIns="0" rIns="0" bIns="0" rtlCol="0" anchor="ctr"/>
          <a:lstStyle/>
          <a:p>
            <a:pPr indent="0" marL="0">
              <a:buNone/>
            </a:pPr>
            <a:r>
              <a:rPr lang="en-US" sz="1300" dirty="0">
                <a:solidFill>
                  <a:srgbClr val="5A5A66"/>
                </a:solidFill>
                <a:latin typeface="Calibri" pitchFamily="34" charset="0"/>
                <a:ea typeface="Calibri" pitchFamily="34" charset="-122"/>
                <a:cs typeface="Calibri" pitchFamily="34" charset="-120"/>
              </a:rPr>
              <a:t>postings modeled</a:t>
            </a:r>
            <a:endParaRPr lang="en-US" sz="1300" dirty="0"/>
          </a:p>
          <a:p>
            <a:pPr indent="0" marL="0">
              <a:buNone/>
            </a:pPr>
            <a:r>
              <a:rPr lang="en-US" sz="1300" dirty="0">
                <a:solidFill>
                  <a:srgbClr val="5A5A66"/>
                </a:solidFill>
                <a:latin typeface="Calibri" pitchFamily="34" charset="0"/>
                <a:ea typeface="Calibri" pitchFamily="34" charset="-122"/>
                <a:cs typeface="Calibri" pitchFamily="34" charset="-120"/>
              </a:rPr>
              <a:t>at a 4.48% fraud rate</a:t>
            </a:r>
            <a:endParaRPr lang="en-US" sz="1300" dirty="0"/>
          </a:p>
        </p:txBody>
      </p:sp>
      <p:sp>
        <p:nvSpPr>
          <p:cNvPr id="12" name="Text 10"/>
          <p:cNvSpPr txBox="1"/>
          <p:nvPr/>
        </p:nvSpPr>
        <p:spPr>
          <a:xfrm>
            <a:off x="548640" y="3749040"/>
            <a:ext cx="11064240" cy="228600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Five text fields joined into one document per posting, with HTML stripped</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Field presence recorded before anything was filled in, because a missing company profile is a signal rather than a defect</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Duplicates removed, but counted first: fraudulent postings were duplicated at 22.3% against 15.0% for legitimate ones</a:t>
            </a:r>
            <a:endParaRPr lang="en-US" sz="1600" dirty="0"/>
          </a:p>
        </p:txBody>
      </p:sp>
      <p:pic>
        <p:nvPicPr>
          <p:cNvPr id="13" name="Narration 4">
            <a:hlinkClick xmlns:r="http://schemas.openxmlformats.org/officeDocument/2006/relationships" r:id="" action="ppaction://media"/>
          </p:cNvPr>
          <p:cNvPicPr>
            <a:picLocks noChangeAspect="1"/>
          </p:cNvPicPr>
          <p:nvPr>
            <a:audioFile xmlns:r="http://schemas.openxmlformats.org/officeDocument/2006/relationships" r:link="rId3"/>
            <p:extLst>
              <p:ext uri="{DAA4B4D4-6D71-4841-9C94-3DE7FCFB9230}">
                <p14:media xmlns:p14="http://schemas.microsoft.com/office/powerpoint/2010/main" xmlns:r="http://schemas.openxmlformats.org/officeDocument/2006/relationships" r:embed="rId4"/>
              </p:ext>
            </p:extLst>
          </p:nvPr>
        </p:nvPicPr>
        <p:blipFill>
          <a:blip xmlns:r="http://schemas.openxmlformats.org/officeDocument/2006/relationships" r:embed="rId5"/>
          <a:stretch>
            <a:fillRect/>
          </a:stretch>
        </p:blipFill>
        <p:spPr>
          <a:xfrm>
            <a:off x="11800000" y="6450000"/>
            <a:ext cx="274320" cy="274320"/>
          </a:xfrm>
          <a:prstGeom prst="rect">
            <a:avLst/>
          </a:prstGeom>
        </p:spPr>
      </p:pic>
    </p:spTree>
  </p:cSld>
  <p:clrMapOvr>
    <a:masterClrMapping/>
  </p:clrMapOvr>
  <p:transition advTm="3513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3513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1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Four steps, no labels</a:t>
            </a:r>
            <a:endParaRPr lang="en-US" sz="3200" dirty="0"/>
          </a:p>
        </p:txBody>
      </p:sp>
      <p:sp>
        <p:nvSpPr>
          <p:cNvPr id="3" name="Shape 1"/>
          <p:cNvSpPr/>
          <p:nvPr/>
        </p:nvSpPr>
        <p:spPr>
          <a:xfrm>
            <a:off x="548640" y="1508760"/>
            <a:ext cx="5577840" cy="960120"/>
          </a:xfrm>
          <a:prstGeom prst="roundRect">
            <a:avLst>
              <a:gd name="adj" fmla="val 7619"/>
            </a:avLst>
          </a:prstGeom>
          <a:solidFill>
            <a:srgbClr val="EEF2FC"/>
          </a:solidFill>
          <a:ln w="12700">
            <a:solidFill>
              <a:srgbClr val="EEF2FC"/>
            </a:solidFill>
            <a:prstDash val="solid"/>
          </a:ln>
        </p:spPr>
      </p:sp>
      <p:sp>
        <p:nvSpPr>
          <p:cNvPr id="4" name="Text 2"/>
          <p:cNvSpPr txBox="1"/>
          <p:nvPr/>
        </p:nvSpPr>
        <p:spPr>
          <a:xfrm>
            <a:off x="777240" y="1691640"/>
            <a:ext cx="457200" cy="594360"/>
          </a:xfrm>
          <a:prstGeom prst="rect">
            <a:avLst/>
          </a:prstGeom>
          <a:noFill/>
          <a:ln/>
        </p:spPr>
        <p:txBody>
          <a:bodyPr wrap="square" lIns="0" tIns="0" rIns="0" bIns="0" rtlCol="0" anchor="ctr"/>
          <a:lstStyle/>
          <a:p>
            <a:pPr indent="0" marL="0">
              <a:buNone/>
            </a:pPr>
            <a:r>
              <a:rPr lang="en-US" sz="2600" b="1" dirty="0">
                <a:solidFill>
                  <a:srgbClr val="4169E1"/>
                </a:solidFill>
                <a:latin typeface="Calibri" pitchFamily="34" charset="0"/>
                <a:ea typeface="Calibri" pitchFamily="34" charset="-122"/>
                <a:cs typeface="Calibri" pitchFamily="34" charset="-120"/>
              </a:rPr>
              <a:t>1</a:t>
            </a:r>
            <a:endParaRPr lang="en-US" sz="2600" dirty="0"/>
          </a:p>
        </p:txBody>
      </p:sp>
      <p:sp>
        <p:nvSpPr>
          <p:cNvPr id="5" name="Text 3"/>
          <p:cNvSpPr txBox="1"/>
          <p:nvPr/>
        </p:nvSpPr>
        <p:spPr>
          <a:xfrm>
            <a:off x="1325880" y="1627632"/>
            <a:ext cx="18288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Represent</a:t>
            </a:r>
            <a:endParaRPr lang="en-US" sz="1700" dirty="0"/>
          </a:p>
        </p:txBody>
      </p:sp>
      <p:sp>
        <p:nvSpPr>
          <p:cNvPr id="6" name="Text 4"/>
          <p:cNvSpPr txBox="1"/>
          <p:nvPr/>
        </p:nvSpPr>
        <p:spPr>
          <a:xfrm>
            <a:off x="1325880" y="1984248"/>
            <a:ext cx="4572000" cy="411480"/>
          </a:xfrm>
          <a:prstGeom prst="rect">
            <a:avLst/>
          </a:prstGeom>
          <a:noFill/>
          <a:ln/>
        </p:spPr>
        <p:txBody>
          <a:bodyPr wrap="square" lIns="0" tIns="0" rIns="0" bIns="0" rtlCol="0" anchor="ctr"/>
          <a:lstStyle/>
          <a:p>
            <a:pPr indent="0" marL="0">
              <a:buNone/>
            </a:pPr>
            <a:r>
              <a:rPr lang="en-US" sz="1200" dirty="0">
                <a:solidFill>
                  <a:srgbClr val="5A5A66"/>
                </a:solidFill>
                <a:latin typeface="Calibri" pitchFamily="34" charset="0"/>
                <a:ea typeface="Calibri" pitchFamily="34" charset="-122"/>
                <a:cs typeface="Calibri" pitchFamily="34" charset="-120"/>
              </a:rPr>
              <a:t>Turn every posting into a vector, so similar wording sits close together</a:t>
            </a:r>
            <a:endParaRPr lang="en-US" sz="1200" dirty="0"/>
          </a:p>
        </p:txBody>
      </p:sp>
      <p:sp>
        <p:nvSpPr>
          <p:cNvPr id="7" name="Shape 5"/>
          <p:cNvSpPr/>
          <p:nvPr/>
        </p:nvSpPr>
        <p:spPr>
          <a:xfrm>
            <a:off x="548640" y="2606040"/>
            <a:ext cx="5577840" cy="960120"/>
          </a:xfrm>
          <a:prstGeom prst="roundRect">
            <a:avLst>
              <a:gd name="adj" fmla="val 7619"/>
            </a:avLst>
          </a:prstGeom>
          <a:solidFill>
            <a:srgbClr val="EEF2FC"/>
          </a:solidFill>
          <a:ln w="12700">
            <a:solidFill>
              <a:srgbClr val="EEF2FC"/>
            </a:solidFill>
            <a:prstDash val="solid"/>
          </a:ln>
        </p:spPr>
      </p:sp>
      <p:sp>
        <p:nvSpPr>
          <p:cNvPr id="8" name="Text 6"/>
          <p:cNvSpPr txBox="1"/>
          <p:nvPr/>
        </p:nvSpPr>
        <p:spPr>
          <a:xfrm>
            <a:off x="777240" y="2788920"/>
            <a:ext cx="457200" cy="594360"/>
          </a:xfrm>
          <a:prstGeom prst="rect">
            <a:avLst/>
          </a:prstGeom>
          <a:noFill/>
          <a:ln/>
        </p:spPr>
        <p:txBody>
          <a:bodyPr wrap="square" lIns="0" tIns="0" rIns="0" bIns="0" rtlCol="0" anchor="ctr"/>
          <a:lstStyle/>
          <a:p>
            <a:pPr indent="0" marL="0">
              <a:buNone/>
            </a:pPr>
            <a:r>
              <a:rPr lang="en-US" sz="2600" b="1" dirty="0">
                <a:solidFill>
                  <a:srgbClr val="4169E1"/>
                </a:solidFill>
                <a:latin typeface="Calibri" pitchFamily="34" charset="0"/>
                <a:ea typeface="Calibri" pitchFamily="34" charset="-122"/>
                <a:cs typeface="Calibri" pitchFamily="34" charset="-120"/>
              </a:rPr>
              <a:t>2</a:t>
            </a:r>
            <a:endParaRPr lang="en-US" sz="2600" dirty="0"/>
          </a:p>
        </p:txBody>
      </p:sp>
      <p:sp>
        <p:nvSpPr>
          <p:cNvPr id="9" name="Text 7"/>
          <p:cNvSpPr txBox="1"/>
          <p:nvPr/>
        </p:nvSpPr>
        <p:spPr>
          <a:xfrm>
            <a:off x="1325880" y="2724912"/>
            <a:ext cx="18288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Reduce</a:t>
            </a:r>
            <a:endParaRPr lang="en-US" sz="1700" dirty="0"/>
          </a:p>
        </p:txBody>
      </p:sp>
      <p:sp>
        <p:nvSpPr>
          <p:cNvPr id="10" name="Text 8"/>
          <p:cNvSpPr txBox="1"/>
          <p:nvPr/>
        </p:nvSpPr>
        <p:spPr>
          <a:xfrm>
            <a:off x="1325880" y="3081528"/>
            <a:ext cx="4572000" cy="411480"/>
          </a:xfrm>
          <a:prstGeom prst="rect">
            <a:avLst/>
          </a:prstGeom>
          <a:noFill/>
          <a:ln/>
        </p:spPr>
        <p:txBody>
          <a:bodyPr wrap="square" lIns="0" tIns="0" rIns="0" bIns="0" rtlCol="0" anchor="ctr"/>
          <a:lstStyle/>
          <a:p>
            <a:pPr indent="0" marL="0">
              <a:buNone/>
            </a:pPr>
            <a:r>
              <a:rPr lang="en-US" sz="1200" dirty="0">
                <a:solidFill>
                  <a:srgbClr val="5A5A66"/>
                </a:solidFill>
                <a:latin typeface="Calibri" pitchFamily="34" charset="0"/>
                <a:ea typeface="Calibri" pitchFamily="34" charset="-122"/>
                <a:cs typeface="Calibri" pitchFamily="34" charset="-120"/>
              </a:rPr>
              <a:t>Compress those vectors while keeping neighbours intact</a:t>
            </a:r>
            <a:endParaRPr lang="en-US" sz="1200" dirty="0"/>
          </a:p>
        </p:txBody>
      </p:sp>
      <p:sp>
        <p:nvSpPr>
          <p:cNvPr id="11" name="Shape 9"/>
          <p:cNvSpPr/>
          <p:nvPr/>
        </p:nvSpPr>
        <p:spPr>
          <a:xfrm>
            <a:off x="548640" y="3703320"/>
            <a:ext cx="5577840" cy="960120"/>
          </a:xfrm>
          <a:prstGeom prst="roundRect">
            <a:avLst>
              <a:gd name="adj" fmla="val 7619"/>
            </a:avLst>
          </a:prstGeom>
          <a:solidFill>
            <a:srgbClr val="EEF2FC"/>
          </a:solidFill>
          <a:ln w="12700">
            <a:solidFill>
              <a:srgbClr val="EEF2FC"/>
            </a:solidFill>
            <a:prstDash val="solid"/>
          </a:ln>
        </p:spPr>
      </p:sp>
      <p:sp>
        <p:nvSpPr>
          <p:cNvPr id="12" name="Text 10"/>
          <p:cNvSpPr txBox="1"/>
          <p:nvPr/>
        </p:nvSpPr>
        <p:spPr>
          <a:xfrm>
            <a:off x="777240" y="3886200"/>
            <a:ext cx="457200" cy="594360"/>
          </a:xfrm>
          <a:prstGeom prst="rect">
            <a:avLst/>
          </a:prstGeom>
          <a:noFill/>
          <a:ln/>
        </p:spPr>
        <p:txBody>
          <a:bodyPr wrap="square" lIns="0" tIns="0" rIns="0" bIns="0" rtlCol="0" anchor="ctr"/>
          <a:lstStyle/>
          <a:p>
            <a:pPr indent="0" marL="0">
              <a:buNone/>
            </a:pPr>
            <a:r>
              <a:rPr lang="en-US" sz="2600" b="1" dirty="0">
                <a:solidFill>
                  <a:srgbClr val="4169E1"/>
                </a:solidFill>
                <a:latin typeface="Calibri" pitchFamily="34" charset="0"/>
                <a:ea typeface="Calibri" pitchFamily="34" charset="-122"/>
                <a:cs typeface="Calibri" pitchFamily="34" charset="-120"/>
              </a:rPr>
              <a:t>3</a:t>
            </a:r>
            <a:endParaRPr lang="en-US" sz="2600" dirty="0"/>
          </a:p>
        </p:txBody>
      </p:sp>
      <p:sp>
        <p:nvSpPr>
          <p:cNvPr id="13" name="Text 11"/>
          <p:cNvSpPr txBox="1"/>
          <p:nvPr/>
        </p:nvSpPr>
        <p:spPr>
          <a:xfrm>
            <a:off x="1325880" y="3822192"/>
            <a:ext cx="18288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Cluster</a:t>
            </a:r>
            <a:endParaRPr lang="en-US" sz="1700" dirty="0"/>
          </a:p>
        </p:txBody>
      </p:sp>
      <p:sp>
        <p:nvSpPr>
          <p:cNvPr id="14" name="Text 12"/>
          <p:cNvSpPr txBox="1"/>
          <p:nvPr/>
        </p:nvSpPr>
        <p:spPr>
          <a:xfrm>
            <a:off x="1325880" y="4178808"/>
            <a:ext cx="4572000" cy="411480"/>
          </a:xfrm>
          <a:prstGeom prst="rect">
            <a:avLst/>
          </a:prstGeom>
          <a:noFill/>
          <a:ln/>
        </p:spPr>
        <p:txBody>
          <a:bodyPr wrap="square" lIns="0" tIns="0" rIns="0" bIns="0" rtlCol="0" anchor="ctr"/>
          <a:lstStyle/>
          <a:p>
            <a:pPr indent="0" marL="0">
              <a:buNone/>
            </a:pPr>
            <a:r>
              <a:rPr lang="en-US" sz="1200" dirty="0">
                <a:solidFill>
                  <a:srgbClr val="5A5A66"/>
                </a:solidFill>
                <a:latin typeface="Calibri" pitchFamily="34" charset="0"/>
                <a:ea typeface="Calibri" pitchFamily="34" charset="-122"/>
                <a:cs typeface="Calibri" pitchFamily="34" charset="-120"/>
              </a:rPr>
              <a:t>Let density find the groups, and leave ambiguous postings unassigned</a:t>
            </a:r>
            <a:endParaRPr lang="en-US" sz="1200" dirty="0"/>
          </a:p>
        </p:txBody>
      </p:sp>
      <p:sp>
        <p:nvSpPr>
          <p:cNvPr id="15" name="Shape 13"/>
          <p:cNvSpPr/>
          <p:nvPr/>
        </p:nvSpPr>
        <p:spPr>
          <a:xfrm>
            <a:off x="548640" y="4800600"/>
            <a:ext cx="5577840" cy="960120"/>
          </a:xfrm>
          <a:prstGeom prst="roundRect">
            <a:avLst>
              <a:gd name="adj" fmla="val 7619"/>
            </a:avLst>
          </a:prstGeom>
          <a:solidFill>
            <a:srgbClr val="EEF2FC"/>
          </a:solidFill>
          <a:ln w="12700">
            <a:solidFill>
              <a:srgbClr val="EEF2FC"/>
            </a:solidFill>
            <a:prstDash val="solid"/>
          </a:ln>
        </p:spPr>
      </p:sp>
      <p:sp>
        <p:nvSpPr>
          <p:cNvPr id="16" name="Text 14"/>
          <p:cNvSpPr txBox="1"/>
          <p:nvPr/>
        </p:nvSpPr>
        <p:spPr>
          <a:xfrm>
            <a:off x="777240" y="4983480"/>
            <a:ext cx="457200" cy="594360"/>
          </a:xfrm>
          <a:prstGeom prst="rect">
            <a:avLst/>
          </a:prstGeom>
          <a:noFill/>
          <a:ln/>
        </p:spPr>
        <p:txBody>
          <a:bodyPr wrap="square" lIns="0" tIns="0" rIns="0" bIns="0" rtlCol="0" anchor="ctr"/>
          <a:lstStyle/>
          <a:p>
            <a:pPr indent="0" marL="0">
              <a:buNone/>
            </a:pPr>
            <a:r>
              <a:rPr lang="en-US" sz="2600" b="1" dirty="0">
                <a:solidFill>
                  <a:srgbClr val="4169E1"/>
                </a:solidFill>
                <a:latin typeface="Calibri" pitchFamily="34" charset="0"/>
                <a:ea typeface="Calibri" pitchFamily="34" charset="-122"/>
                <a:cs typeface="Calibri" pitchFamily="34" charset="-120"/>
              </a:rPr>
              <a:t>4</a:t>
            </a:r>
            <a:endParaRPr lang="en-US" sz="2600" dirty="0"/>
          </a:p>
        </p:txBody>
      </p:sp>
      <p:sp>
        <p:nvSpPr>
          <p:cNvPr id="17" name="Text 15"/>
          <p:cNvSpPr txBox="1"/>
          <p:nvPr/>
        </p:nvSpPr>
        <p:spPr>
          <a:xfrm>
            <a:off x="1325880" y="4919472"/>
            <a:ext cx="18288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Interpret</a:t>
            </a:r>
            <a:endParaRPr lang="en-US" sz="1700" dirty="0"/>
          </a:p>
        </p:txBody>
      </p:sp>
      <p:sp>
        <p:nvSpPr>
          <p:cNvPr id="18" name="Text 16"/>
          <p:cNvSpPr txBox="1"/>
          <p:nvPr/>
        </p:nvSpPr>
        <p:spPr>
          <a:xfrm>
            <a:off x="1325880" y="5276088"/>
            <a:ext cx="4572000" cy="411480"/>
          </a:xfrm>
          <a:prstGeom prst="rect">
            <a:avLst/>
          </a:prstGeom>
          <a:noFill/>
          <a:ln/>
        </p:spPr>
        <p:txBody>
          <a:bodyPr wrap="square" lIns="0" tIns="0" rIns="0" bIns="0" rtlCol="0" anchor="ctr"/>
          <a:lstStyle/>
          <a:p>
            <a:pPr indent="0" marL="0">
              <a:buNone/>
            </a:pPr>
            <a:r>
              <a:rPr lang="en-US" sz="1200" dirty="0">
                <a:solidFill>
                  <a:srgbClr val="5A5A66"/>
                </a:solidFill>
                <a:latin typeface="Calibri" pitchFamily="34" charset="0"/>
                <a:ea typeface="Calibri" pitchFamily="34" charset="-122"/>
                <a:cs typeface="Calibri" pitchFamily="34" charset="-120"/>
              </a:rPr>
              <a:t>Read the dense groups and name what they have in common</a:t>
            </a:r>
            <a:endParaRPr lang="en-US" sz="1200" dirty="0"/>
          </a:p>
        </p:txBody>
      </p:sp>
      <p:pic>
        <p:nvPicPr>
          <p:cNvPr id="19" name="Image 0" descr="/mnt/user-data/uploads/ScamSignatures/fig1_embedding_space.png">    </p:cNvPr>
          <p:cNvPicPr>
            <a:picLocks noChangeAspect="1"/>
          </p:cNvPicPr>
          <p:nvPr/>
        </p:nvPicPr>
        <p:blipFill>
          <a:blip r:embed="rId1"/>
          <a:stretch>
            <a:fillRect/>
          </a:stretch>
        </p:blipFill>
        <p:spPr>
          <a:xfrm>
            <a:off x="6492240" y="1569720"/>
            <a:ext cx="5120640" cy="4267200"/>
          </a:xfrm>
          <a:prstGeom prst="rect">
            <a:avLst/>
          </a:prstGeom>
        </p:spPr>
      </p:pic>
      <p:pic>
        <p:nvPicPr>
          <p:cNvPr id="20" name="Narration 5">
            <a:hlinkClick xmlns:r="http://schemas.openxmlformats.org/officeDocument/2006/relationships" r:id="" action="ppaction://media"/>
          </p:cNvPr>
          <p:cNvPicPr>
            <a:picLocks noChangeAspect="1"/>
          </p:cNvPicPr>
          <p:nvPr>
            <a:audioFile xmlns:r="http://schemas.openxmlformats.org/officeDocument/2006/relationships" r:link="rId4"/>
            <p:extLst>
              <p:ext uri="{DAA4B4D4-6D71-4841-9C94-3DE7FCFB9230}">
                <p14:media xmlns:p14="http://schemas.microsoft.com/office/powerpoint/2010/main" xmlns:r="http://schemas.openxmlformats.org/officeDocument/2006/relationships" r:embed="rId5"/>
              </p:ext>
            </p:extLst>
          </p:nvPr>
        </p:nvPicPr>
        <p:blipFill>
          <a:blip xmlns:r="http://schemas.openxmlformats.org/officeDocument/2006/relationships" r:embed="rId6"/>
          <a:stretch>
            <a:fillRect/>
          </a:stretch>
        </p:blipFill>
        <p:spPr>
          <a:xfrm>
            <a:off x="11800000" y="6450000"/>
            <a:ext cx="274320" cy="274320"/>
          </a:xfrm>
          <a:prstGeom prst="rect">
            <a:avLst/>
          </a:prstGeom>
        </p:spPr>
      </p:pic>
    </p:spTree>
  </p:cSld>
  <p:clrMapOvr>
    <a:masterClrMapping/>
  </p:clrMapOvr>
  <p:transition advTm="4532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45323"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20"/>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Fraud both concentrates and scatters</a:t>
            </a:r>
            <a:endParaRPr lang="en-US" sz="3200" dirty="0"/>
          </a:p>
        </p:txBody>
      </p:sp>
      <p:pic>
        <p:nvPicPr>
          <p:cNvPr id="3" name="Image 0" descr="/mnt/user-data/uploads/ScamSignatures/fig2_fraud_rate_by_cluster.png">    </p:cNvPr>
          <p:cNvPicPr>
            <a:picLocks noChangeAspect="1"/>
          </p:cNvPicPr>
          <p:nvPr/>
        </p:nvPicPr>
        <p:blipFill>
          <a:blip r:embed="rId1"/>
          <a:stretch>
            <a:fillRect/>
          </a:stretch>
        </p:blipFill>
        <p:spPr>
          <a:xfrm>
            <a:off x="2252167" y="1417320"/>
            <a:ext cx="7657186" cy="4846320"/>
          </a:xfrm>
          <a:prstGeom prst="rect">
            <a:avLst/>
          </a:prstGeom>
        </p:spPr>
      </p:pic>
      <p:pic>
        <p:nvPicPr>
          <p:cNvPr id="4" name="Narration 6">
            <a:hlinkClick xmlns:r="http://schemas.openxmlformats.org/officeDocument/2006/relationships" r:id="" action="ppaction://media"/>
          </p:cNvPr>
          <p:cNvPicPr>
            <a:picLocks noChangeAspect="1"/>
          </p:cNvPicPr>
          <p:nvPr>
            <a:audioFile xmlns:r="http://schemas.openxmlformats.org/officeDocument/2006/relationships" r:link="rId4"/>
            <p:extLst>
              <p:ext uri="{DAA4B4D4-6D71-4841-9C94-3DE7FCFB9230}">
                <p14:media xmlns:p14="http://schemas.microsoft.com/office/powerpoint/2010/main" xmlns:r="http://schemas.openxmlformats.org/officeDocument/2006/relationships" r:embed="rId5"/>
              </p:ext>
            </p:extLst>
          </p:nvPr>
        </p:nvPicPr>
        <p:blipFill>
          <a:blip xmlns:r="http://schemas.openxmlformats.org/officeDocument/2006/relationships" r:embed="rId6"/>
          <a:stretch>
            <a:fillRect/>
          </a:stretch>
        </p:blipFill>
        <p:spPr>
          <a:xfrm>
            <a:off x="11800000" y="6450000"/>
            <a:ext cx="274320" cy="274320"/>
          </a:xfrm>
          <a:prstGeom prst="rect">
            <a:avLst/>
          </a:prstGeom>
        </p:spPr>
      </p:pic>
    </p:spTree>
  </p:cSld>
  <p:clrMapOvr>
    <a:masterClrMapping/>
  </p:clrMapOvr>
  <p:transition advTm="4425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4425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4"/>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The simpler method won, and I did not expect that</a:t>
            </a:r>
            <a:endParaRPr lang="en-US" sz="3200" dirty="0"/>
          </a:p>
        </p:txBody>
      </p:sp>
      <p:pic>
        <p:nvPicPr>
          <p:cNvPr id="3" name="Image 0" descr="/mnt/user-data/uploads/ScamSignatures/fig3_capture_vs_review.png">    </p:cNvPr>
          <p:cNvPicPr>
            <a:picLocks noChangeAspect="1"/>
          </p:cNvPicPr>
          <p:nvPr/>
        </p:nvPicPr>
        <p:blipFill>
          <a:blip r:embed="rId1"/>
          <a:stretch>
            <a:fillRect/>
          </a:stretch>
        </p:blipFill>
        <p:spPr>
          <a:xfrm>
            <a:off x="1791767" y="1417320"/>
            <a:ext cx="8577986" cy="4846320"/>
          </a:xfrm>
          <a:prstGeom prst="rect">
            <a:avLst/>
          </a:prstGeom>
        </p:spPr>
      </p:pic>
      <p:pic>
        <p:nvPicPr>
          <p:cNvPr id="4" name="Narration 7">
            <a:hlinkClick xmlns:r="http://schemas.openxmlformats.org/officeDocument/2006/relationships" r:id="" action="ppaction://media"/>
          </p:cNvPr>
          <p:cNvPicPr>
            <a:picLocks noChangeAspect="1"/>
          </p:cNvPicPr>
          <p:nvPr>
            <a:audioFile xmlns:r="http://schemas.openxmlformats.org/officeDocument/2006/relationships" r:link="rId4"/>
            <p:extLst>
              <p:ext uri="{DAA4B4D4-6D71-4841-9C94-3DE7FCFB9230}">
                <p14:media xmlns:p14="http://schemas.microsoft.com/office/powerpoint/2010/main" xmlns:r="http://schemas.openxmlformats.org/officeDocument/2006/relationships" r:embed="rId5"/>
              </p:ext>
            </p:extLst>
          </p:nvPr>
        </p:nvPicPr>
        <p:blipFill>
          <a:blip xmlns:r="http://schemas.openxmlformats.org/officeDocument/2006/relationships" r:embed="rId6"/>
          <a:stretch>
            <a:fillRect/>
          </a:stretch>
        </p:blipFill>
        <p:spPr>
          <a:xfrm>
            <a:off x="11800000" y="6450000"/>
            <a:ext cx="274320" cy="274320"/>
          </a:xfrm>
          <a:prstGeom prst="rect">
            <a:avLst/>
          </a:prstGeom>
        </p:spPr>
      </p:pic>
    </p:spTree>
  </p:cSld>
  <p:clrMapOvr>
    <a:masterClrMapping/>
  </p:clrMapOvr>
  <p:transition advTm="4151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4151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Four shapes, and completeness is not safety</a:t>
            </a:r>
            <a:endParaRPr lang="en-US" sz="3200" dirty="0"/>
          </a:p>
        </p:txBody>
      </p:sp>
      <p:pic>
        <p:nvPicPr>
          <p:cNvPr id="3" name="Image 0" descr="/mnt/user-data/uploads/ScamSignatures/fig4_archetype_fingerprint.png">    </p:cNvPr>
          <p:cNvPicPr>
            <a:picLocks noChangeAspect="1"/>
          </p:cNvPicPr>
          <p:nvPr/>
        </p:nvPicPr>
        <p:blipFill>
          <a:blip r:embed="rId1"/>
          <a:stretch>
            <a:fillRect/>
          </a:stretch>
        </p:blipFill>
        <p:spPr>
          <a:xfrm>
            <a:off x="2567178" y="1417320"/>
            <a:ext cx="7027164" cy="4846320"/>
          </a:xfrm>
          <a:prstGeom prst="rect">
            <a:avLst/>
          </a:prstGeom>
        </p:spPr>
      </p:pic>
      <p:pic>
        <p:nvPicPr>
          <p:cNvPr id="4" name="Narration 8">
            <a:hlinkClick xmlns:r="http://schemas.openxmlformats.org/officeDocument/2006/relationships" r:id="" action="ppaction://media"/>
          </p:cNvPr>
          <p:cNvPicPr>
            <a:picLocks noChangeAspect="1"/>
          </p:cNvPicPr>
          <p:nvPr>
            <a:audioFile xmlns:r="http://schemas.openxmlformats.org/officeDocument/2006/relationships" r:link="rId4"/>
            <p:extLst>
              <p:ext uri="{DAA4B4D4-6D71-4841-9C94-3DE7FCFB9230}">
                <p14:media xmlns:p14="http://schemas.microsoft.com/office/powerpoint/2010/main" xmlns:r="http://schemas.openxmlformats.org/officeDocument/2006/relationships" r:embed="rId5"/>
              </p:ext>
            </p:extLst>
          </p:nvPr>
        </p:nvPicPr>
        <p:blipFill>
          <a:blip xmlns:r="http://schemas.openxmlformats.org/officeDocument/2006/relationships" r:embed="rId6"/>
          <a:stretch>
            <a:fillRect/>
          </a:stretch>
        </p:blipFill>
        <p:spPr>
          <a:xfrm>
            <a:off x="11800000" y="6450000"/>
            <a:ext cx="274320" cy="274320"/>
          </a:xfrm>
          <a:prstGeom prst="rect">
            <a:avLst/>
          </a:prstGeom>
        </p:spPr>
      </p:pic>
    </p:spTree>
  </p:cSld>
  <p:clrMapOvr>
    <a:masterClrMapping/>
  </p:clrMapOvr>
  <p:transition advTm="4313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431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4"/>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One operator, 99 postings, one reused paragraph</a:t>
            </a:r>
            <a:endParaRPr lang="en-US" sz="3200" dirty="0"/>
          </a:p>
        </p:txBody>
      </p:sp>
      <p:pic>
        <p:nvPicPr>
          <p:cNvPr id="3" name="Image 0" descr="/mnt/user-data/uploads/ScamSignatures/fig5_ghost_agency_campaign.png">    </p:cNvPr>
          <p:cNvPicPr>
            <a:picLocks noChangeAspect="1"/>
          </p:cNvPicPr>
          <p:nvPr/>
        </p:nvPicPr>
        <p:blipFill>
          <a:blip r:embed="rId1"/>
          <a:stretch>
            <a:fillRect/>
          </a:stretch>
        </p:blipFill>
        <p:spPr>
          <a:xfrm>
            <a:off x="1985620" y="1417320"/>
            <a:ext cx="8190281" cy="4846320"/>
          </a:xfrm>
          <a:prstGeom prst="rect">
            <a:avLst/>
          </a:prstGeom>
        </p:spPr>
      </p:pic>
      <p:pic>
        <p:nvPicPr>
          <p:cNvPr id="4" name="Narration 9">
            <a:hlinkClick xmlns:r="http://schemas.openxmlformats.org/officeDocument/2006/relationships" r:id="" action="ppaction://media"/>
          </p:cNvPr>
          <p:cNvPicPr>
            <a:picLocks noChangeAspect="1"/>
          </p:cNvPicPr>
          <p:nvPr>
            <a:audioFile xmlns:r="http://schemas.openxmlformats.org/officeDocument/2006/relationships" r:link="rId4"/>
            <p:extLst>
              <p:ext uri="{DAA4B4D4-6D71-4841-9C94-3DE7FCFB9230}">
                <p14:media xmlns:p14="http://schemas.microsoft.com/office/powerpoint/2010/main" xmlns:r="http://schemas.openxmlformats.org/officeDocument/2006/relationships" r:embed="rId5"/>
              </p:ext>
            </p:extLst>
          </p:nvPr>
        </p:nvPicPr>
        <p:blipFill>
          <a:blip xmlns:r="http://schemas.openxmlformats.org/officeDocument/2006/relationships" r:embed="rId6"/>
          <a:stretch>
            <a:fillRect/>
          </a:stretch>
        </p:blipFill>
        <p:spPr>
          <a:xfrm>
            <a:off x="11800000" y="6450000"/>
            <a:ext cx="274320" cy="274320"/>
          </a:xfrm>
          <a:prstGeom prst="rect">
            <a:avLst/>
          </a:prstGeom>
        </p:spPr>
      </p:pic>
    </p:spTree>
  </p:cSld>
  <p:clrMapOvr>
    <a:masterClrMapping/>
  </p:clrMapOvr>
  <p:transition advTm="5022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5022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The signatures do not survive to today</a:t>
            </a:r>
            <a:endParaRPr lang="en-US" sz="3200" dirty="0"/>
          </a:p>
        </p:txBody>
      </p:sp>
      <p:pic>
        <p:nvPicPr>
          <p:cNvPr id="3" name="Image 0" descr="/mnt/user-data/uploads/ScamSignatures/fig6_modern_similarity.png">    </p:cNvPr>
          <p:cNvPicPr>
            <a:picLocks noChangeAspect="1"/>
          </p:cNvPicPr>
          <p:nvPr/>
        </p:nvPicPr>
        <p:blipFill>
          <a:blip r:embed="rId1"/>
          <a:stretch>
            <a:fillRect/>
          </a:stretch>
        </p:blipFill>
        <p:spPr>
          <a:xfrm>
            <a:off x="1573682" y="1417320"/>
            <a:ext cx="9014155" cy="4846320"/>
          </a:xfrm>
          <a:prstGeom prst="rect">
            <a:avLst/>
          </a:prstGeom>
        </p:spPr>
      </p:pic>
      <p:pic>
        <p:nvPicPr>
          <p:cNvPr id="4" name="Narration 10">
            <a:hlinkClick xmlns:r="http://schemas.openxmlformats.org/officeDocument/2006/relationships" r:id="" action="ppaction://media"/>
          </p:cNvPr>
          <p:cNvPicPr>
            <a:picLocks noChangeAspect="1"/>
          </p:cNvPicPr>
          <p:nvPr>
            <a:audioFile xmlns:r="http://schemas.openxmlformats.org/officeDocument/2006/relationships" r:link="rId4"/>
            <p:extLst>
              <p:ext uri="{DAA4B4D4-6D71-4841-9C94-3DE7FCFB9230}">
                <p14:media xmlns:p14="http://schemas.microsoft.com/office/powerpoint/2010/main" xmlns:r="http://schemas.openxmlformats.org/officeDocument/2006/relationships" r:embed="rId5"/>
              </p:ext>
            </p:extLst>
          </p:nvPr>
        </p:nvPicPr>
        <p:blipFill>
          <a:blip xmlns:r="http://schemas.openxmlformats.org/officeDocument/2006/relationships" r:embed="rId6"/>
          <a:stretch>
            <a:fillRect/>
          </a:stretch>
        </p:blipFill>
        <p:spPr>
          <a:xfrm>
            <a:off x="11800000" y="6450000"/>
            <a:ext cx="274320" cy="274320"/>
          </a:xfrm>
          <a:prstGeom prst="rect">
            <a:avLst/>
          </a:prstGeom>
        </p:spPr>
      </p:pic>
    </p:spTree>
  </p:cSld>
  <p:clrMapOvr>
    <a:masterClrMapping/>
  </p:clrMapOvr>
  <p:transition advTm="3364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3364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What a trust and safety team should take from this</a:t>
            </a:r>
            <a:endParaRPr lang="en-US" sz="3200" dirty="0"/>
          </a:p>
        </p:txBody>
      </p:sp>
      <p:sp>
        <p:nvSpPr>
          <p:cNvPr id="3" name="Shape 1"/>
          <p:cNvSpPr/>
          <p:nvPr/>
        </p:nvSpPr>
        <p:spPr>
          <a:xfrm>
            <a:off x="548640" y="1554480"/>
            <a:ext cx="5486400" cy="1874520"/>
          </a:xfrm>
          <a:prstGeom prst="roundRect">
            <a:avLst>
              <a:gd name="adj" fmla="val 3902"/>
            </a:avLst>
          </a:prstGeom>
          <a:solidFill>
            <a:srgbClr val="EEF2FC"/>
          </a:solidFill>
          <a:ln w="12700">
            <a:solidFill>
              <a:srgbClr val="EEF2FC"/>
            </a:solidFill>
            <a:prstDash val="solid"/>
          </a:ln>
        </p:spPr>
      </p:sp>
      <p:sp>
        <p:nvSpPr>
          <p:cNvPr id="4" name="Text 2"/>
          <p:cNvSpPr txBox="1"/>
          <p:nvPr/>
        </p:nvSpPr>
        <p:spPr>
          <a:xfrm>
            <a:off x="868680" y="175564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Run both representations</a:t>
            </a:r>
            <a:endParaRPr lang="en-US" sz="1900" dirty="0"/>
          </a:p>
        </p:txBody>
      </p:sp>
      <p:sp>
        <p:nvSpPr>
          <p:cNvPr id="5" name="Text 3"/>
          <p:cNvSpPr txBox="1"/>
          <p:nvPr/>
        </p:nvSpPr>
        <p:spPr>
          <a:xfrm>
            <a:off x="868680" y="224942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They find different fraud. The union reaches 71.7% of scams within 9.8% of the corpus, which neither achieves alone.</a:t>
            </a:r>
            <a:endParaRPr lang="en-US" sz="1350" dirty="0"/>
          </a:p>
        </p:txBody>
      </p:sp>
      <p:sp>
        <p:nvSpPr>
          <p:cNvPr id="6" name="Shape 4"/>
          <p:cNvSpPr/>
          <p:nvPr/>
        </p:nvSpPr>
        <p:spPr>
          <a:xfrm>
            <a:off x="6309360" y="1554480"/>
            <a:ext cx="5486400" cy="1874520"/>
          </a:xfrm>
          <a:prstGeom prst="roundRect">
            <a:avLst>
              <a:gd name="adj" fmla="val 3902"/>
            </a:avLst>
          </a:prstGeom>
          <a:solidFill>
            <a:srgbClr val="EEF2FC"/>
          </a:solidFill>
          <a:ln w="12700">
            <a:solidFill>
              <a:srgbClr val="EEF2FC"/>
            </a:solidFill>
            <a:prstDash val="solid"/>
          </a:ln>
        </p:spPr>
      </p:sp>
      <p:sp>
        <p:nvSpPr>
          <p:cNvPr id="7" name="Text 5"/>
          <p:cNvSpPr txBox="1"/>
          <p:nvPr/>
        </p:nvSpPr>
        <p:spPr>
          <a:xfrm>
            <a:off x="6629400" y="175564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Discover, then match</a:t>
            </a:r>
            <a:endParaRPr lang="en-US" sz="1900" dirty="0"/>
          </a:p>
        </p:txBody>
      </p:sp>
      <p:sp>
        <p:nvSpPr>
          <p:cNvPr id="8" name="Text 6"/>
          <p:cNvSpPr txBox="1"/>
          <p:nvPr/>
        </p:nvSpPr>
        <p:spPr>
          <a:xfrm>
            <a:off x="6629400" y="224942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Use clustering to find campaigns, then extract their phrases as exact rules. Four phrases caught 99 postings at 100% precision.</a:t>
            </a:r>
            <a:endParaRPr lang="en-US" sz="1350" dirty="0"/>
          </a:p>
        </p:txBody>
      </p:sp>
      <p:sp>
        <p:nvSpPr>
          <p:cNvPr id="9" name="Shape 7"/>
          <p:cNvSpPr/>
          <p:nvPr/>
        </p:nvSpPr>
        <p:spPr>
          <a:xfrm>
            <a:off x="548640" y="3703320"/>
            <a:ext cx="5486400" cy="1874520"/>
          </a:xfrm>
          <a:prstGeom prst="roundRect">
            <a:avLst>
              <a:gd name="adj" fmla="val 3902"/>
            </a:avLst>
          </a:prstGeom>
          <a:solidFill>
            <a:srgbClr val="EEF2FC"/>
          </a:solidFill>
          <a:ln w="12700">
            <a:solidFill>
              <a:srgbClr val="EEF2FC"/>
            </a:solidFill>
            <a:prstDash val="solid"/>
          </a:ln>
        </p:spPr>
      </p:sp>
      <p:sp>
        <p:nvSpPr>
          <p:cNvPr id="10" name="Text 8"/>
          <p:cNvSpPr txBox="1"/>
          <p:nvPr/>
        </p:nvSpPr>
        <p:spPr>
          <a:xfrm>
            <a:off x="868680" y="390448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Treat archetype as scrutiny</a:t>
            </a:r>
            <a:endParaRPr lang="en-US" sz="1900" dirty="0"/>
          </a:p>
        </p:txBody>
      </p:sp>
      <p:sp>
        <p:nvSpPr>
          <p:cNvPr id="11" name="Text 9"/>
          <p:cNvSpPr txBox="1"/>
          <p:nvPr/>
        </p:nvSpPr>
        <p:spPr>
          <a:xfrm>
            <a:off x="868680" y="439826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Never as a verdict. One cluster running at 90% fraud has two real gas station job ads as its most representative members.</a:t>
            </a:r>
            <a:endParaRPr lang="en-US" sz="1350" dirty="0"/>
          </a:p>
        </p:txBody>
      </p:sp>
      <p:sp>
        <p:nvSpPr>
          <p:cNvPr id="12" name="Shape 10"/>
          <p:cNvSpPr/>
          <p:nvPr/>
        </p:nvSpPr>
        <p:spPr>
          <a:xfrm>
            <a:off x="6309360" y="3703320"/>
            <a:ext cx="5486400" cy="1874520"/>
          </a:xfrm>
          <a:prstGeom prst="roundRect">
            <a:avLst>
              <a:gd name="adj" fmla="val 3902"/>
            </a:avLst>
          </a:prstGeom>
          <a:solidFill>
            <a:srgbClr val="EEF2FC"/>
          </a:solidFill>
          <a:ln w="12700">
            <a:solidFill>
              <a:srgbClr val="EEF2FC"/>
            </a:solidFill>
            <a:prstDash val="solid"/>
          </a:ln>
        </p:spPr>
      </p:sp>
      <p:sp>
        <p:nvSpPr>
          <p:cNvPr id="13" name="Text 11"/>
          <p:cNvSpPr txBox="1"/>
          <p:nvPr/>
        </p:nvSpPr>
        <p:spPr>
          <a:xfrm>
            <a:off x="6629400" y="390448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Refit before deploying</a:t>
            </a:r>
            <a:endParaRPr lang="en-US" sz="1900" dirty="0"/>
          </a:p>
        </p:txBody>
      </p:sp>
      <p:sp>
        <p:nvSpPr>
          <p:cNvPr id="14" name="Text 12"/>
          <p:cNvSpPr txBox="1"/>
          <p:nvPr/>
        </p:nvSpPr>
        <p:spPr>
          <a:xfrm>
            <a:off x="6629400" y="439826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The 2014 centroids do not transfer to current postings. Verify employer identity rather than trusting posting quality.</a:t>
            </a:r>
            <a:endParaRPr lang="en-US" sz="1350" dirty="0"/>
          </a:p>
        </p:txBody>
      </p:sp>
      <p:pic>
        <p:nvPicPr>
          <p:cNvPr id="15" name="Narration 11">
            <a:hlinkClick xmlns:r="http://schemas.openxmlformats.org/officeDocument/2006/relationships" r:id="" action="ppaction://media"/>
          </p:cNvPr>
          <p:cNvPicPr>
            <a:picLocks noChangeAspect="1"/>
          </p:cNvPicPr>
          <p:nvPr>
            <a:audioFile xmlns:r="http://schemas.openxmlformats.org/officeDocument/2006/relationships" r:link="rId3"/>
            <p:extLst>
              <p:ext uri="{DAA4B4D4-6D71-4841-9C94-3DE7FCFB9230}">
                <p14:media xmlns:p14="http://schemas.microsoft.com/office/powerpoint/2010/main" xmlns:r="http://schemas.openxmlformats.org/officeDocument/2006/relationships" r:embed="rId4"/>
              </p:ext>
            </p:extLst>
          </p:nvPr>
        </p:nvPicPr>
        <p:blipFill>
          <a:blip xmlns:r="http://schemas.openxmlformats.org/officeDocument/2006/relationships" r:embed="rId5"/>
          <a:stretch>
            <a:fillRect/>
          </a:stretch>
        </p:blipFill>
        <p:spPr>
          <a:xfrm>
            <a:off x="11800000" y="6450000"/>
            <a:ext cx="274320" cy="274320"/>
          </a:xfrm>
          <a:prstGeom prst="rect">
            <a:avLst/>
          </a:prstGeom>
        </p:spPr>
      </p:pic>
    </p:spTree>
  </p:cSld>
  <p:clrMapOvr>
    <a:masterClrMapping/>
  </p:clrMapOvr>
  <p:transition advTm="3818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3818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1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What I would want challenged</a:t>
            </a:r>
            <a:endParaRPr lang="en-US" sz="3200" dirty="0"/>
          </a:p>
        </p:txBody>
      </p:sp>
      <p:sp>
        <p:nvSpPr>
          <p:cNvPr id="3" name="Text 1"/>
          <p:cNvSpPr txBox="1"/>
          <p:nvPr/>
        </p:nvSpPr>
        <p:spPr>
          <a:xfrm>
            <a:off x="548640" y="1554480"/>
            <a:ext cx="11064240" cy="2743200"/>
          </a:xfrm>
          <a:prstGeom prst="rect">
            <a:avLst/>
          </a:prstGeom>
          <a:noFill/>
          <a:ln/>
        </p:spPr>
        <p:txBody>
          <a:bodyPr wrap="square" lIns="0" tIns="0" rIns="0" bIns="0" rtlCol="0" anchor="ctr"/>
          <a:lstStyle/>
          <a:p>
            <a:pPr marL="342900" indent="-342900">
              <a:spcAft>
                <a:spcPts val="1400"/>
              </a:spcAft>
              <a:buSzPct val="100000"/>
              <a:buChar char="•"/>
            </a:pPr>
            <a:r>
              <a:rPr lang="en-US" sz="1600" dirty="0">
                <a:solidFill>
                  <a:srgbClr val="DCE4F7"/>
                </a:solidFill>
                <a:latin typeface="Calibri" pitchFamily="34" charset="0"/>
                <a:ea typeface="Calibri" pitchFamily="34" charset="-122"/>
                <a:cs typeface="Calibri" pitchFamily="34" charset="-120"/>
              </a:rPr>
              <a:t>The labels have a ceiling. I found byte identical company text where one posting is labelled fraudulent and two are not, so the annotation encodes something outside the text that no text based method can recover.</a:t>
            </a:r>
            <a:endParaRPr lang="en-US" sz="1600" dirty="0"/>
          </a:p>
          <a:p>
            <a:pPr marL="342900" indent="-342900">
              <a:spcAft>
                <a:spcPts val="1400"/>
              </a:spcAft>
              <a:buSzPct val="100000"/>
              <a:buChar char="•"/>
            </a:pPr>
            <a:r>
              <a:rPr lang="en-US" sz="1600" dirty="0">
                <a:solidFill>
                  <a:srgbClr val="DCE4F7"/>
                </a:solidFill>
                <a:latin typeface="Calibri" pitchFamily="34" charset="0"/>
                <a:ea typeface="Calibri" pitchFamily="34" charset="-122"/>
                <a:cs typeface="Calibri" pitchFamily="34" charset="-120"/>
              </a:rPr>
              <a:t>One operator accounts for 13.9% of all fraud, so the concentration result partly measures a single prolific actor.</a:t>
            </a:r>
            <a:endParaRPr lang="en-US" sz="1600" dirty="0"/>
          </a:p>
          <a:p>
            <a:pPr marL="342900" indent="-342900">
              <a:spcAft>
                <a:spcPts val="1400"/>
              </a:spcAft>
              <a:buSzPct val="100000"/>
              <a:buChar char="•"/>
            </a:pPr>
            <a:r>
              <a:rPr lang="en-US" sz="1600" dirty="0">
                <a:solidFill>
                  <a:srgbClr val="DCE4F7"/>
                </a:solidFill>
                <a:latin typeface="Calibri" pitchFamily="34" charset="0"/>
                <a:ea typeface="Calibri" pitchFamily="34" charset="-122"/>
                <a:cs typeface="Calibri" pitchFamily="34" charset="-120"/>
              </a:rPr>
              <a:t>The modern sample is 165 postings from curated boards, so it is almost entirely legitimate. It tests whether the shapes persist, not whether they catch current fraud.</a:t>
            </a:r>
            <a:endParaRPr lang="en-US" sz="1600" dirty="0"/>
          </a:p>
        </p:txBody>
      </p:sp>
      <p:sp>
        <p:nvSpPr>
          <p:cNvPr id="4" name="Text 2"/>
          <p:cNvSpPr txBox="1"/>
          <p:nvPr/>
        </p:nvSpPr>
        <p:spPr>
          <a:xfrm>
            <a:off x="548640" y="4846320"/>
            <a:ext cx="11064240" cy="548640"/>
          </a:xfrm>
          <a:prstGeom prst="rect">
            <a:avLst/>
          </a:prstGeom>
          <a:noFill/>
          <a:ln/>
        </p:spPr>
        <p:txBody>
          <a:bodyPr wrap="square" lIns="0" tIns="0" rIns="0" bIns="0" rtlCol="0" anchor="ctr"/>
          <a:lstStyle/>
          <a:p>
            <a:pPr indent="0" marL="0">
              <a:buNone/>
            </a:pPr>
            <a:r>
              <a:rPr lang="en-US" sz="2400" b="1" i="1" dirty="0">
                <a:solidFill>
                  <a:srgbClr val="FFFFFF"/>
                </a:solidFill>
                <a:latin typeface="Calibri" pitchFamily="34" charset="0"/>
                <a:ea typeface="Calibri" pitchFamily="34" charset="-122"/>
                <a:cs typeface="Calibri" pitchFamily="34" charset="-120"/>
              </a:rPr>
              <a:t>The crudest fraud is the easiest to catch. The most professional is the hardest.</a:t>
            </a:r>
            <a:endParaRPr lang="en-US" sz="2400" dirty="0"/>
          </a:p>
        </p:txBody>
      </p:sp>
      <p:sp>
        <p:nvSpPr>
          <p:cNvPr id="5" name="Text 3"/>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500" dirty="0">
                <a:solidFill>
                  <a:srgbClr val="A9B6DC"/>
                </a:solidFill>
                <a:latin typeface="Calibri" pitchFamily="34" charset="0"/>
                <a:ea typeface="Calibri" pitchFamily="34" charset="-122"/>
                <a:cs typeface="Calibri" pitchFamily="34" charset="-120"/>
              </a:rPr>
              <a:t>Thank you. Questions welcome.</a:t>
            </a:r>
            <a:endParaRPr lang="en-US" sz="1500" dirty="0"/>
          </a:p>
        </p:txBody>
      </p:sp>
      <p:pic>
        <p:nvPicPr>
          <p:cNvPr id="6" name="Narration 12">
            <a:hlinkClick xmlns:r="http://schemas.openxmlformats.org/officeDocument/2006/relationships" r:id="" action="ppaction://media"/>
          </p:cNvPr>
          <p:cNvPicPr>
            <a:picLocks noChangeAspect="1"/>
          </p:cNvPicPr>
          <p:nvPr>
            <a:audioFile xmlns:r="http://schemas.openxmlformats.org/officeDocument/2006/relationships" r:link="rId3"/>
            <p:extLst>
              <p:ext uri="{DAA4B4D4-6D71-4841-9C94-3DE7FCFB9230}">
                <p14:media xmlns:p14="http://schemas.microsoft.com/office/powerpoint/2010/main" xmlns:r="http://schemas.openxmlformats.org/officeDocument/2006/relationships" r:embed="rId4"/>
              </p:ext>
            </p:extLst>
          </p:nvPr>
        </p:nvPicPr>
        <p:blipFill>
          <a:blip xmlns:r="http://schemas.openxmlformats.org/officeDocument/2006/relationships" r:embed="rId5"/>
          <a:stretch>
            <a:fillRect/>
          </a:stretch>
        </p:blipFill>
        <p:spPr>
          <a:xfrm>
            <a:off x="11800000" y="6450000"/>
            <a:ext cx="274320" cy="274320"/>
          </a:xfrm>
          <a:prstGeom prst="rect">
            <a:avLst/>
          </a:prstGeom>
        </p:spPr>
      </p:pic>
    </p:spTree>
  </p:cSld>
  <p:clrMapOvr>
    <a:masterClrMapping/>
  </p:clrMapOvr>
  <p:transition advTm="4516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4516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6"/>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libri" pitchFamily="34" charset="0"/>
                <a:ea typeface="Calibri" pitchFamily="34" charset="-122"/>
                <a:cs typeface="Calibri" pitchFamily="34" charset="-120"/>
              </a:rPr>
              <a:t>What shipped, and what I refused to ship</a:t>
            </a:r>
            <a:endParaRPr lang="en-US" sz="3200" dirty="0"/>
          </a:p>
        </p:txBody>
      </p:sp>
      <p:sp>
        <p:nvSpPr>
          <p:cNvPr id="3" name="Shape 1"/>
          <p:cNvSpPr/>
          <p:nvPr/>
        </p:nvSpPr>
        <p:spPr>
          <a:xfrm>
            <a:off x="548640" y="1554480"/>
            <a:ext cx="5486400" cy="1874520"/>
          </a:xfrm>
          <a:prstGeom prst="roundRect">
            <a:avLst>
              <a:gd name="adj" fmla="val 3902"/>
            </a:avLst>
          </a:prstGeom>
          <a:solidFill>
            <a:srgbClr val="EEF2FC"/>
          </a:solidFill>
          <a:ln w="12700">
            <a:solidFill>
              <a:srgbClr val="EEF2FC"/>
            </a:solidFill>
            <a:prstDash val="solid"/>
          </a:ln>
        </p:spPr>
      </p:sp>
      <p:sp>
        <p:nvSpPr>
          <p:cNvPr id="4" name="Text 2"/>
          <p:cNvSpPr txBox="1"/>
          <p:nvPr/>
        </p:nvSpPr>
        <p:spPr>
          <a:xfrm>
            <a:off x="868680" y="175564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Shipped: campaign phrases</a:t>
            </a:r>
            <a:endParaRPr lang="en-US" sz="1900" dirty="0"/>
          </a:p>
        </p:txBody>
      </p:sp>
      <p:sp>
        <p:nvSpPr>
          <p:cNvPr id="5" name="Text 3"/>
          <p:cNvSpPr txBox="1"/>
          <p:nvPr/>
        </p:nvSpPr>
        <p:spPr>
          <a:xfrm>
            <a:off x="868680" y="224942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The four Ghost Agency phrases run as literal string matches. In the study they caught 99 postings with no false positives.</a:t>
            </a:r>
            <a:endParaRPr lang="en-US" sz="1350" dirty="0"/>
          </a:p>
        </p:txBody>
      </p:sp>
      <p:sp>
        <p:nvSpPr>
          <p:cNvPr id="6" name="Shape 4"/>
          <p:cNvSpPr/>
          <p:nvPr/>
        </p:nvSpPr>
        <p:spPr>
          <a:xfrm>
            <a:off x="6309360" y="1554480"/>
            <a:ext cx="5486400" cy="1874520"/>
          </a:xfrm>
          <a:prstGeom prst="roundRect">
            <a:avLst>
              <a:gd name="adj" fmla="val 3902"/>
            </a:avLst>
          </a:prstGeom>
          <a:solidFill>
            <a:srgbClr val="EEF2FC"/>
          </a:solidFill>
          <a:ln w="12700">
            <a:solidFill>
              <a:srgbClr val="EEF2FC"/>
            </a:solidFill>
            <a:prstDash val="solid"/>
          </a:ln>
        </p:spPr>
      </p:sp>
      <p:sp>
        <p:nvSpPr>
          <p:cNvPr id="7" name="Text 5"/>
          <p:cNvSpPr txBox="1"/>
          <p:nvPr/>
        </p:nvSpPr>
        <p:spPr>
          <a:xfrm>
            <a:off x="6629400" y="175564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Shipped: the Bait Ad shape</a:t>
            </a:r>
            <a:endParaRPr lang="en-US" sz="1900" dirty="0"/>
          </a:p>
        </p:txBody>
      </p:sp>
      <p:sp>
        <p:nvSpPr>
          <p:cNvPr id="8" name="Text 6"/>
          <p:cNvSpPr txBox="1"/>
          <p:nvPr/>
        </p:nvSpPr>
        <p:spPr>
          <a:xfrm>
            <a:off x="6629400" y="224942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Brief, no employer described, no requirements stated. The shape raises a caution and never more, because short honest ads exist.</a:t>
            </a:r>
            <a:endParaRPr lang="en-US" sz="1350" dirty="0"/>
          </a:p>
        </p:txBody>
      </p:sp>
      <p:sp>
        <p:nvSpPr>
          <p:cNvPr id="9" name="Shape 7"/>
          <p:cNvSpPr/>
          <p:nvPr/>
        </p:nvSpPr>
        <p:spPr>
          <a:xfrm>
            <a:off x="548640" y="3703320"/>
            <a:ext cx="5486400" cy="1874520"/>
          </a:xfrm>
          <a:prstGeom prst="roundRect">
            <a:avLst>
              <a:gd name="adj" fmla="val 3902"/>
            </a:avLst>
          </a:prstGeom>
          <a:solidFill>
            <a:srgbClr val="EEF2FC"/>
          </a:solidFill>
          <a:ln w="12700">
            <a:solidFill>
              <a:srgbClr val="EEF2FC"/>
            </a:solidFill>
            <a:prstDash val="solid"/>
          </a:ln>
        </p:spPr>
      </p:sp>
      <p:sp>
        <p:nvSpPr>
          <p:cNvPr id="10" name="Text 8"/>
          <p:cNvSpPr txBox="1"/>
          <p:nvPr/>
        </p:nvSpPr>
        <p:spPr>
          <a:xfrm>
            <a:off x="868680" y="390448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Refused: the centroids</a:t>
            </a:r>
            <a:endParaRPr lang="en-US" sz="1900" dirty="0"/>
          </a:p>
        </p:txBody>
      </p:sp>
      <p:sp>
        <p:nvSpPr>
          <p:cNvPr id="11" name="Text 9"/>
          <p:cNvSpPr txBox="1"/>
          <p:nvPr/>
        </p:nvSpPr>
        <p:spPr>
          <a:xfrm>
            <a:off x="868680" y="439826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The original plan. Research question three killed it: 96.4% of current postings land nearest the one archetype that is not evidence.</a:t>
            </a:r>
            <a:endParaRPr lang="en-US" sz="1350" dirty="0"/>
          </a:p>
        </p:txBody>
      </p:sp>
      <p:sp>
        <p:nvSpPr>
          <p:cNvPr id="12" name="Shape 10"/>
          <p:cNvSpPr/>
          <p:nvPr/>
        </p:nvSpPr>
        <p:spPr>
          <a:xfrm>
            <a:off x="6309360" y="3703320"/>
            <a:ext cx="5486400" cy="1874520"/>
          </a:xfrm>
          <a:prstGeom prst="roundRect">
            <a:avLst>
              <a:gd name="adj" fmla="val 3902"/>
            </a:avLst>
          </a:prstGeom>
          <a:solidFill>
            <a:srgbClr val="EEF2FC"/>
          </a:solidFill>
          <a:ln w="12700">
            <a:solidFill>
              <a:srgbClr val="EEF2FC"/>
            </a:solidFill>
            <a:prstDash val="solid"/>
          </a:ln>
        </p:spPr>
      </p:sp>
      <p:sp>
        <p:nvSpPr>
          <p:cNvPr id="13" name="Text 11"/>
          <p:cNvSpPr txBox="1"/>
          <p:nvPr/>
        </p:nvSpPr>
        <p:spPr>
          <a:xfrm>
            <a:off x="6629400" y="3904488"/>
            <a:ext cx="48463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Live in Verify This Job</a:t>
            </a:r>
            <a:endParaRPr lang="en-US" sz="1900" dirty="0"/>
          </a:p>
        </p:txBody>
      </p:sp>
      <p:sp>
        <p:nvSpPr>
          <p:cNvPr id="14" name="Text 12"/>
          <p:cNvSpPr txBox="1"/>
          <p:nvPr/>
        </p:nvSpPr>
        <p:spPr>
          <a:xfrm>
            <a:off x="6629400" y="4398264"/>
            <a:ext cx="4846320" cy="1005840"/>
          </a:xfrm>
          <a:prstGeom prst="rect">
            <a:avLst/>
          </a:prstGeom>
          <a:noFill/>
          <a:ln/>
        </p:spPr>
        <p:txBody>
          <a:bodyPr wrap="square" lIns="0" tIns="0" rIns="0" bIns="0" rtlCol="0" anchor="ctr"/>
          <a:lstStyle/>
          <a:p>
            <a:pPr indent="0" marL="0">
              <a:buNone/>
            </a:pPr>
            <a:r>
              <a:rPr lang="en-US" sz="1350" dirty="0">
                <a:solidFill>
                  <a:srgbClr val="5A5A66"/>
                </a:solidFill>
                <a:latin typeface="Calibri" pitchFamily="34" charset="0"/>
                <a:ea typeface="Calibri" pitchFamily="34" charset="-122"/>
                <a:cs typeface="Calibri" pitchFamily="34" charset="-120"/>
              </a:rPr>
              <a:t>The module carries no model, so it answers before the classifier loads and survives a rebuild on any framework.</a:t>
            </a:r>
            <a:endParaRPr lang="en-US" sz="1350" dirty="0"/>
          </a:p>
        </p:txBody>
      </p:sp>
      <p:pic>
        <p:nvPicPr>
          <p:cNvPr id="15" name="Narration 13">
            <a:hlinkClick xmlns:r="http://schemas.openxmlformats.org/officeDocument/2006/relationships" r:id="" action="ppaction://media"/>
          </p:cNvPr>
          <p:cNvPicPr>
            <a:picLocks noChangeAspect="1"/>
          </p:cNvPicPr>
          <p:nvPr>
            <a:audioFile xmlns:r="http://schemas.openxmlformats.org/officeDocument/2006/relationships" r:link="rId3"/>
            <p:extLst>
              <p:ext uri="{DAA4B4D4-6D71-4841-9C94-3DE7FCFB9230}">
                <p14:media xmlns:p14="http://schemas.microsoft.com/office/powerpoint/2010/main" xmlns:r="http://schemas.openxmlformats.org/officeDocument/2006/relationships" r:embed="rId4"/>
              </p:ext>
            </p:extLst>
          </p:nvPr>
        </p:nvPicPr>
        <p:blipFill>
          <a:blip xmlns:r="http://schemas.openxmlformats.org/officeDocument/2006/relationships" r:embed="rId5"/>
          <a:stretch>
            <a:fillRect/>
          </a:stretch>
        </p:blipFill>
        <p:spPr>
          <a:xfrm>
            <a:off x="11800000" y="6450000"/>
            <a:ext cx="274320" cy="274320"/>
          </a:xfrm>
          <a:prstGeom prst="rect">
            <a:avLst/>
          </a:prstGeom>
        </p:spPr>
      </p:pic>
    </p:spTree>
  </p:cSld>
  <p:clrMapOvr>
    <a:masterClrMapping/>
  </p:clrMapOvr>
  <p:transition advTm="3968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withEffect">
                                  <p:stCondLst>
                                    <p:cond delay="0"/>
                                  </p:stCondLst>
                                  <p:childTnLst>
                                    <p:cmd type="call" cmd="playFrom(0.0)">
                                      <p:cBhvr>
                                        <p:cTn id="6" dur="3968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0"/>
                  </p:stCondLst>
                </p:cTn>
                <p:tgtEl>
                  <p:spTgt spid="15"/>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2026-09-28T22:55:11Z</dcterms:created>
  <dcterms:modified xsi:type="dcterms:W3CDTF">2026-09-28T22:55:11Z</dcterms:modified>
</cp:coreProperties>
</file>