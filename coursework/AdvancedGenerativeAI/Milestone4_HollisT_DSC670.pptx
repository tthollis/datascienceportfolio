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4D6EB0-3DD4-4AE3-87E6-5B6F3EABD8C8}">
  <a:tblStyle styleId="{FC4D6EB0-3DD4-4AE3-87E6-5B6F3EABD8C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35D6EC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E8AC2E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shiel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70" y="9715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783080" y="777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DSC670 · ADVANCED USES OF GENERATIVE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783080" y="111556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Milestone 4 — Final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2514600"/>
            <a:ext cx="10881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 Posting Fraud Detector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0080" y="36118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A fine-tuned language model, wrapped in an independent safety net,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deployed as a public web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080" y="598932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 Hollis</a:t>
            </a:r>
            <a:r>
              <a:rPr b="0" i="0" lang="en-US" sz="13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   ·   Bellevue University   ·   Professor Neugebauer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file-text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" y="713232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Label Isn’t Enough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85800" y="1691640"/>
            <a:ext cx="63093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Fraudulent job postings are built to look identical to real ones — and most fraud filters return only a label, with no explanation a job seeker can act 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600"/>
              </a:spcBef>
              <a:spcAft>
                <a:spcPts val="0"/>
              </a:spcAft>
              <a:buClr>
                <a:srgbClr val="AEB9D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Built on a recall-first philosophy carried over from a prior (DSC630) project on this same dataset: missing a real scam costs a job seeker far more than a false alarm costs a second look.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600"/>
              </a:spcBef>
              <a:spcAft>
                <a:spcPts val="0"/>
              </a:spcAft>
              <a:buClr>
                <a:srgbClr val="AEB9D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Goal: a tool that classifies a posting AND explains, in plain language, exactly which details triggered that call — while being honest that the verdict is a screening aid, not a certainty.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452360" y="1691640"/>
            <a:ext cx="4114800" cy="3017520"/>
          </a:xfrm>
          <a:prstGeom prst="roundRect">
            <a:avLst>
              <a:gd fmla="val 3636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452360" y="196596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C2E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E8AC2E"/>
                </a:solidFill>
                <a:latin typeface="Calibri"/>
                <a:ea typeface="Calibri"/>
                <a:cs typeface="Calibri"/>
                <a:sym typeface="Calibri"/>
              </a:rPr>
              <a:t>4.8%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726680" y="292608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of EMSCAD postings are fraudulent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726680" y="365760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Rare overall — but for the one person who lands on it, it’s the only posting that matters.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Job Posting Fraud Detector  ·  DSC670 Milestone 4  ·  Tim Hollis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database.png"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THE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40080" y="713232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EMSCAD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Vidros, Kolias, Kambourakis &amp; Akoglu (2017). Automatic detection of online recruitment frauds: characteristics, methods, and a public dataset. Future Internet, 9(1), 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40080" y="2057400"/>
            <a:ext cx="3429000" cy="1737360"/>
          </a:xfrm>
          <a:prstGeom prst="roundRect">
            <a:avLst>
              <a:gd fmla="val 5263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40080" y="2212848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17,880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22960" y="30175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total job postings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389120" y="2057400"/>
            <a:ext cx="3429000" cy="1737360"/>
          </a:xfrm>
          <a:prstGeom prst="roundRect">
            <a:avLst>
              <a:gd fmla="val 5263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389120" y="2212848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866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72000" y="30175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labeled fraudulent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138160" y="2057400"/>
            <a:ext cx="3429000" cy="1737360"/>
          </a:xfrm>
          <a:prstGeom prst="roundRect">
            <a:avLst>
              <a:gd fmla="val 5263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138160" y="2212848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~5%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321040" y="301752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fraud rate — a heavily imbalanced classification problem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0080" y="41148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 the split for the failure patterns prompting exposed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85800" y="4572000"/>
            <a:ext cx="10424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206 “unexplainable” frauds (no checkable red-flag evidence) held out of training entirely.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AEB9D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Test = 441 postings, Validation = 174, Train = 1,208 (post-oversampling) — each stratified to ~33% fraud.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AEB9D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“Polished frauds” (professional-looking scams) oversampled ×3 in the training split only — targeting the exact pattern that fooled every prompting strategy in Milestone 2.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Job Posting Fraud Detector  ·  DSC670 Milestone 4  ·  Tim Hollis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search.png" id="70" name="Google Shape;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MILESTONE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Prompting Alone Couldn’t Fix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40080" y="129844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Five prompting strategies on GPT-4o (temperature = 0), tested against the same 5 real EMSCAD postings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" name="Google Shape;74;p6"/>
          <p:cNvGraphicFramePr/>
          <p:nvPr/>
        </p:nvGraphicFramePr>
        <p:xfrm>
          <a:off x="64008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{FC4D6EB0-3DD4-4AE3-87E6-5B6F3EABD8C8}</a:tableStyleId>
              </a:tblPr>
              <a:tblGrid>
                <a:gridCol w="3017525"/>
                <a:gridCol w="1005850"/>
                <a:gridCol w="6858000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C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C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happened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C57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9D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AEB9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Zero-shot classification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3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A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/ 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3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9D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AEB9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Missed a real fraud; false-flagged a legitimate posting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34A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9D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AEB9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plain-language explanation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A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/ 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9D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AEB9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Produced fluent, confident explanations supporting the wrong verdict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30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9D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AEB9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Few-shot, fixed output format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3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A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/ 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3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9D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AEB9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 unchanged — but output became fully parseable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34A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9D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AEB9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Chain-of-thought (5-step checklist)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A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/ 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9D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AEB9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Caught the missed fraud, but introduced a new false positive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30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9D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AEB9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 + structured format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3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A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A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/ 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3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EB9D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AEB9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Fixed that false positive, lost the fraud catch again — confidence miscalibrated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8234A"/>
                    </a:solidFill>
                  </a:tcPr>
                </a:tc>
              </a:tr>
            </a:tbl>
          </a:graphicData>
        </a:graphic>
      </p:graphicFrame>
      <p:sp>
        <p:nvSpPr>
          <p:cNvPr id="75" name="Google Shape;75;p6"/>
          <p:cNvSpPr/>
          <p:nvPr/>
        </p:nvSpPr>
        <p:spPr>
          <a:xfrm>
            <a:off x="640080" y="5623560"/>
            <a:ext cx="10881360" cy="658368"/>
          </a:xfrm>
          <a:prstGeom prst="roundRect">
            <a:avLst>
              <a:gd fmla="val 13889" name="adj"/>
            </a:avLst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68680" y="5623560"/>
            <a:ext cx="10424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C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AC2E"/>
                </a:solidFill>
                <a:latin typeface="Calibri"/>
                <a:ea typeface="Calibri"/>
                <a:cs typeface="Calibri"/>
                <a:sym typeface="Calibri"/>
              </a:rPr>
              <a:t>Takeaway: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prompting redistributed the errors rather than eliminating them. No single prompt combined suspicion toward fraud with fairness toward unusual-but-real postings.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cpu.png" id="84" name="Google Shape;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MILESTONE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Prompting to Fine-Tuning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40080" y="129844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OpenAI closed new fine-tuning access on May 7, 2026 — the project pivoted to a full fine-tune of an open model via Hugging Face transformers.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640080" y="1965960"/>
            <a:ext cx="5120640" cy="4160520"/>
          </a:xfrm>
          <a:prstGeom prst="roundRect">
            <a:avLst>
              <a:gd fmla="val 2637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Base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914400" y="25603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Qwen2.5-0.5B-Instruct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914400" y="303580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Full fine-tune — not LoRA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914400" y="35204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C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AC2E"/>
                </a:solidFill>
                <a:latin typeface="Calibri"/>
                <a:ea typeface="Calibri"/>
                <a:cs typeface="Calibri"/>
                <a:sym typeface="Calibri"/>
              </a:rPr>
              <a:t>494,032,768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3063240" y="35204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total parameters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914400" y="40233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C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AC2E"/>
                </a:solidFill>
                <a:latin typeface="Calibri"/>
                <a:ea typeface="Calibri"/>
                <a:cs typeface="Calibri"/>
                <a:sym typeface="Calibri"/>
              </a:rPr>
              <a:t>494,032,768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3063240" y="402336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trainable (100.0%)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914400" y="45262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C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AC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3063240" y="45262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adapter modules · 0 frozen tensors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914400" y="5166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Training Infrastructure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914400" y="54864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Google Colab · single Tesla T4 (15.6 GB)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228 steps in 35.0 minutes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989320" y="1965960"/>
            <a:ext cx="5559552" cy="4160520"/>
          </a:xfrm>
          <a:prstGeom prst="roundRect">
            <a:avLst>
              <a:gd fmla="val 2637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263640" y="2194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Hyperparameters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263640" y="26974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Epochs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595360" y="2697480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263640" y="31546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Effective batch size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8595360" y="3154680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  (2 per-device × 8 grad-accum)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263640" y="36118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Learning 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595360" y="3611880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1e-5, cosine schedule, 5% warmup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263640" y="40690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8595360" y="4069080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fp16, gradient checkpointing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263640" y="45262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Max sequence length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595360" y="4526280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1,024 tokens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263640" y="49834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Weight decay / grad clip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8595360" y="4983480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0.01 / 1.0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263640" y="54406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Seed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595360" y="5440680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670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Job Posting Fraud Detector  ·  DSC670 Milestone 4  ·  Tim Hollis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bar-chart.png" id="124" name="Google Shape;1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8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Fine-Tuning Made the Difference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441 held-out test postings, never seen during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828800"/>
            <a:ext cx="1088136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*Strict scoring found 0/441 parseable verdicts from the untuned base model. Recall/precision shown here use a lenient recovery pass (waiving format, only 3 total fraud predictions) — the fairest comparison still available.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alert-triangle.png"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C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C2E"/>
                </a:solidFill>
                <a:latin typeface="Calibri"/>
                <a:ea typeface="Calibri"/>
                <a:cs typeface="Calibri"/>
                <a:sym typeface="Calibri"/>
              </a:rPr>
              <a:t>HONEST ASSESSMENT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Known Limitations, By the Numbers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40080" y="1737360"/>
            <a:ext cx="5257800" cy="1783080"/>
          </a:xfrm>
          <a:prstGeom prst="roundRect">
            <a:avLst>
              <a:gd fmla="val 5128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914400" y="1901952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555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5555C"/>
                </a:solidFill>
                <a:latin typeface="Calibri"/>
                <a:ea typeface="Calibri"/>
                <a:cs typeface="Calibri"/>
                <a:sym typeface="Calibri"/>
              </a:rPr>
              <a:t>0.860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2606040" y="1938528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F1 on the fraud class — professor feedback on Milestone 3: probably not good enough for production as-is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263640" y="1737360"/>
            <a:ext cx="5257800" cy="1783080"/>
          </a:xfrm>
          <a:prstGeom prst="roundRect">
            <a:avLst>
              <a:gd fmla="val 5128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6537960" y="1901952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555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5555C"/>
                </a:solidFill>
                <a:latin typeface="Calibri"/>
                <a:ea typeface="Calibri"/>
                <a:cs typeface="Calibri"/>
                <a:sym typeface="Calibri"/>
              </a:rPr>
              <a:t>13.4%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8229600" y="1938528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of quoted phrases in evaluation were fabricated — not present in the source posting (11 of 82 quotes)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640080" y="3749040"/>
            <a:ext cx="5257800" cy="1783080"/>
          </a:xfrm>
          <a:prstGeom prst="roundRect">
            <a:avLst>
              <a:gd fmla="val 5128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914400" y="3913632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555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5555C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2606040" y="3950208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missed frauds (false negatives) — a median of just 1 detectable red flag, vs. 2 for the frauds it caught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263640" y="3749040"/>
            <a:ext cx="5257800" cy="1783080"/>
          </a:xfrm>
          <a:prstGeom prst="roundRect">
            <a:avLst>
              <a:gd fmla="val 5128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6537960" y="3913632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555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5555C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229600" y="3950208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legitimate postings incorrectly flagged (false positives) on the 441-posting test 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C2E"/>
              </a:buClr>
              <a:buSzPts val="1500"/>
              <a:buFont typeface="Calibri"/>
              <a:buNone/>
            </a:pPr>
            <a:r>
              <a:rPr b="1" i="1" lang="en-US" sz="1500" u="none" cap="none" strike="noStrike">
                <a:solidFill>
                  <a:srgbClr val="E8AC2E"/>
                </a:solidFill>
                <a:latin typeface="Calibri"/>
                <a:ea typeface="Calibri"/>
                <a:cs typeface="Calibri"/>
                <a:sym typeface="Calibri"/>
              </a:rPr>
              <a:t>This is why the app does not ship the model alone.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shield.png"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PRODUCTION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Independent Safety Net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40080" y="1298448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Retraining wasn’t feasible on this timeline — so the model is wrapped in checks that run alongside it, not instead of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40080" y="1965960"/>
            <a:ext cx="3429000" cy="3246120"/>
          </a:xfrm>
          <a:prstGeom prst="roundRect">
            <a:avLst>
              <a:gd fmla="val 3380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896112" y="224028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x-circle.png" id="166" name="Google Shape;16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2175" y="23763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/>
          <p:nvPr/>
        </p:nvSpPr>
        <p:spPr>
          <a:xfrm>
            <a:off x="896112" y="2788920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Rule-based scam scan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96112" y="3291840"/>
            <a:ext cx="291693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Independently scans raw posting text for money-upfront language, unrealistic pay claims, urgency pressure tactics, paid-upsell/coaching-fee schemes, and free-email domains — signals the model never has to get right on its own.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4389120" y="1965960"/>
            <a:ext cx="3429000" cy="3246120"/>
          </a:xfrm>
          <a:prstGeom prst="roundRect">
            <a:avLst>
              <a:gd fmla="val 3380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4645152" y="224028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search.png" id="171" name="Google Shape;17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1215" y="23763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/>
          <p:nvPr/>
        </p:nvSpPr>
        <p:spPr>
          <a:xfrm>
            <a:off x="4645152" y="2788920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Quote-grounding check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645152" y="3291840"/>
            <a:ext cx="291693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Every quoted phrase in the model’s explanation is checked against the actual posting text. An unverifiable quote is surfaced directly — addressing the 13.4% fabrication rate found in evaluation.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8138160" y="1965960"/>
            <a:ext cx="3429000" cy="3246120"/>
          </a:xfrm>
          <a:prstGeom prst="roundRect">
            <a:avLst>
              <a:gd fmla="val 3380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8394192" y="224028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check-circle.png" id="176" name="Google Shape;17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30255" y="23763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/>
          <p:nvPr/>
        </p:nvSpPr>
        <p:spPr>
          <a:xfrm>
            <a:off x="8394192" y="2788920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Claim-consistency check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8394192" y="3291840"/>
            <a:ext cx="291693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Catches a specific hallucination pattern: a red flag claiming information is “missing” (e.g. no employer named) when that information is actually present in the posting.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fmla="val 10526" name="adj"/>
            </a:avLst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868680" y="5440680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C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AC2E"/>
                </a:solidFill>
                <a:latin typeface="Calibri"/>
                <a:ea typeface="Calibri"/>
                <a:cs typeface="Calibri"/>
                <a:sym typeface="Calibri"/>
              </a:rPr>
              <a:t>Combined conservatively: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signal from </a:t>
            </a: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source — the model’s own verdict, its hedges, the rule scan — escalates the result. A CLEAR result requires all three to agree nothing is wrong.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layout.png" id="188" name="Google Shape;1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1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THE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with Streamlit, Deployed Live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30936" y="1453896"/>
            <a:ext cx="3369506" cy="5230368"/>
          </a:xfrm>
          <a:prstGeom prst="roundRect">
            <a:avLst>
              <a:gd fmla="val 1628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screenshots/home.png" id="192" name="Google Shape;19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508760"/>
            <a:ext cx="3259778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/>
          <p:nvPr/>
        </p:nvSpPr>
        <p:spPr>
          <a:xfrm>
            <a:off x="4448498" y="1600200"/>
            <a:ext cx="71918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The model loads live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448498" y="1984248"/>
            <a:ext cx="719181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from a public Hugging Face Hub repository — not a local checkpoint — so the deployed app is reproducible by anyone.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4448498" y="3200400"/>
            <a:ext cx="71918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Limitations are disclosed in the UI itself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448498" y="3584448"/>
            <a:ext cx="719181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the persistent banner states the real recall figure (87.8%) before a single posting is analyzed.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448498" y="4800600"/>
            <a:ext cx="71918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An expandable “About” panel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448498" y="5184648"/>
            <a:ext cx="719181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documents the base model, training data, fabrication rate, and the tool’s deliberate recall-first bias — in plain language.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THE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640080" y="6858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Verdicts, Not One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095952" y="1280160"/>
            <a:ext cx="3314759" cy="502920"/>
          </a:xfrm>
          <a:prstGeom prst="roundRect">
            <a:avLst>
              <a:gd fmla="val 14545" name="adj"/>
            </a:avLst>
          </a:prstGeom>
          <a:solidFill>
            <a:srgbClr val="E555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1095952" y="1280160"/>
            <a:ext cx="331475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7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1730"/>
                </a:solidFill>
                <a:latin typeface="Calibri"/>
                <a:ea typeface="Calibri"/>
                <a:cs typeface="Calibri"/>
                <a:sym typeface="Calibri"/>
              </a:rPr>
              <a:t>DANGER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1415992" y="1847088"/>
            <a:ext cx="2674679" cy="4114800"/>
          </a:xfrm>
          <a:prstGeom prst="roundRect">
            <a:avLst>
              <a:gd fmla="val 1709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screenshots/danger.png" id="210" name="Google Shape;2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1712" y="1874520"/>
            <a:ext cx="2583239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2"/>
          <p:cNvSpPr/>
          <p:nvPr/>
        </p:nvSpPr>
        <p:spPr>
          <a:xfrm>
            <a:off x="1095952" y="6035040"/>
            <a:ext cx="3314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“Remote Data Entry Specialist”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4044951" y="1280160"/>
            <a:ext cx="3611399" cy="502920"/>
          </a:xfrm>
          <a:prstGeom prst="roundRect">
            <a:avLst>
              <a:gd fmla="val 14545" name="adj"/>
            </a:avLst>
          </a:prstGeom>
          <a:solidFill>
            <a:srgbClr val="E8A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4044951" y="1280160"/>
            <a:ext cx="361139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7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1730"/>
                </a:solidFill>
                <a:latin typeface="Calibri"/>
                <a:ea typeface="Calibri"/>
                <a:cs typeface="Calibri"/>
                <a:sym typeface="Calibri"/>
              </a:rPr>
              <a:t>CAUTION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4364991" y="1847088"/>
            <a:ext cx="2971319" cy="4114800"/>
          </a:xfrm>
          <a:prstGeom prst="roundRect">
            <a:avLst>
              <a:gd fmla="val 1539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screenshots/caution.png" id="215" name="Google Shape;21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0711" y="1874520"/>
            <a:ext cx="2879879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/>
          <p:nvPr/>
        </p:nvSpPr>
        <p:spPr>
          <a:xfrm>
            <a:off x="4044951" y="6035040"/>
            <a:ext cx="361139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“Marketing Coordinator”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7290589" y="1280160"/>
            <a:ext cx="3802411" cy="502920"/>
          </a:xfrm>
          <a:prstGeom prst="roundRect">
            <a:avLst>
              <a:gd fmla="val 14545" name="adj"/>
            </a:avLst>
          </a:prstGeom>
          <a:solidFill>
            <a:srgbClr val="3FC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7290589" y="1280160"/>
            <a:ext cx="3802411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7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1730"/>
                </a:solidFill>
                <a:latin typeface="Calibri"/>
                <a:ea typeface="Calibri"/>
                <a:cs typeface="Calibri"/>
                <a:sym typeface="Calibri"/>
              </a:rPr>
              <a:t>CLEAR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7610629" y="1847088"/>
            <a:ext cx="3162331" cy="4114800"/>
          </a:xfrm>
          <a:prstGeom prst="roundRect">
            <a:avLst>
              <a:gd fmla="val 1446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screenshots/clear.png" id="220" name="Google Shape;22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6349" y="1874520"/>
            <a:ext cx="3070891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2"/>
          <p:cNvSpPr/>
          <p:nvPr/>
        </p:nvSpPr>
        <p:spPr>
          <a:xfrm>
            <a:off x="7290589" y="6035040"/>
            <a:ext cx="3802411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“Graphic Designer”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upload-cloud.png" id="229" name="Google Shape;2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3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Public, Deployed, and Reproducible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640080" y="2011680"/>
            <a:ext cx="10881360" cy="1234440"/>
          </a:xfrm>
          <a:prstGeom prst="roundRect">
            <a:avLst>
              <a:gd fmla="val 7407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914400" y="217627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Live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914400" y="246888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verifythisjob.streamlit.app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858000" y="2176272"/>
            <a:ext cx="44805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Streamlit Community Cloud (free tier — sleeps after inactivity, wakes on first visit)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640080" y="3520440"/>
            <a:ext cx="10881360" cy="1234440"/>
          </a:xfrm>
          <a:prstGeom prst="roundRect">
            <a:avLst>
              <a:gd fmla="val 7407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914400" y="368503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Model weights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914400" y="397764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huggingface.co/TH69426a/emscad-fraud-ft-final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6858000" y="3685032"/>
            <a:ext cx="44805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Public Hugging Face Hub repository — loaded live by the app at runtime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fmla="val 7407" name="adj"/>
            </a:avLst>
          </a:prstGeom>
          <a:solidFill>
            <a:srgbClr val="18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914400" y="519379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Source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914400" y="548640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github.com/TTHollis/JobPostingFraudCheck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6858000" y="5193792"/>
            <a:ext cx="44805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Public GitHub repo scoped to this project only — app.py, requirements, and assets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Job Posting Fraud Detector  ·  DSC670 Milestone 4  ·  Tim Hollis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3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35D6EC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flag.png" id="253" name="Google Shape;2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" y="64465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D6E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5D6E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check-circle.png" id="257" name="Google Shape;25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17945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4"/>
          <p:cNvSpPr/>
          <p:nvPr/>
        </p:nvSpPr>
        <p:spPr>
          <a:xfrm>
            <a:off x="1280160" y="1673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Prompting redistributes errors, it doesn’t remove them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1280160" y="2075688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Five strategies on GPT-4o each traded one failure mode for another — none solved suspicion-toward-fraud and fairness-toward-unusual-legitimate at once.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check-circle.png" id="261" name="Google Shape;2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298323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4"/>
          <p:cNvSpPr/>
          <p:nvPr/>
        </p:nvSpPr>
        <p:spPr>
          <a:xfrm>
            <a:off x="1280160" y="286207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Fine-tuning got real accuracy — not a finished product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1280160" y="3264408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A full fine-tune of Qwen2.5-0.5B-Instruct reached F1 0.860 on held-out data, but the model still fabricates evidence and misses real fraud.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sc670-milestone4/deck/icons/check-circle.png" id="265" name="Google Shape;26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417195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/>
          <p:nvPr/>
        </p:nvSpPr>
        <p:spPr>
          <a:xfrm>
            <a:off x="1280160" y="405079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Responsible deployment means not trusting the model alone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1280160" y="4453128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9DA"/>
                </a:solidFill>
                <a:latin typeface="Calibri"/>
                <a:ea typeface="Calibri"/>
                <a:cs typeface="Calibri"/>
                <a:sym typeface="Calibri"/>
              </a:rPr>
              <a:t>An independent rule-based scan plus two hallucination checks catch what the model gets wrong — and the app says so, in the UI, before showing a result.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fmla="val 11765" name="adj"/>
            </a:avLst>
          </a:prstGeom>
          <a:solidFill>
            <a:srgbClr val="1F2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868680" y="5532120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C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AC2E"/>
                </a:solidFill>
                <a:latin typeface="Calibri"/>
                <a:ea typeface="Calibri"/>
                <a:cs typeface="Calibri"/>
                <a:sym typeface="Calibri"/>
              </a:rPr>
              <a:t>Future work: 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discount a verdict when its own supporting red flag is itself flagged as fabricated, and scale to a larger base model to close the recall gap.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0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0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