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media1.m4a" ContentType="audio/mp4"/>
  <Override PartName="/ppt/media/media26.m4a" ContentType="audio/mp4"/>
  <Override PartName="/ppt/media/media4.m4a" ContentType="audio/mp4"/>
  <Override PartName="/ppt/media/media3.m4a" ContentType="audio/mp4"/>
  <Override PartName="/ppt/media/media5.m4a" ContentType="audio/mp4"/>
  <Override PartName="/ppt/media/media6.m4a" ContentType="audio/mp4"/>
  <Override PartName="/ppt/media/media21.m4a" ContentType="audio/mp4"/>
  <Override PartName="/ppt/media/media9.m4a" ContentType="audio/mp4"/>
  <Override PartName="/ppt/media/media12.m4a" ContentType="audio/mp4"/>
  <Override PartName="/ppt/media/media13.m4a" ContentType="audio/mp4"/>
  <Override PartName="/ppt/media/media15.m4a" ContentType="audio/mp4"/>
  <Override PartName="/ppt/media/media23.m4a" ContentType="audio/mp4"/>
  <Override PartName="/ppt/media/media18.m4a" ContentType="audio/mp4"/>
  <Override PartName="/ppt/media/media20.m4a" ContentType="audio/mp4"/>
  <Override PartName="/ppt/media/media25.m4a" ContentType="audio/mp4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E0B2A6E-8628-44E9-9D4C-AE10BD21C6D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A65B5A-EA00-4F08-BF2F-2F5350C566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A281CF-107D-4FE0-943C-BB772D4291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F82048-9F5C-4F9A-801A-5FE6F74324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6D9367-9900-4778-82FE-B189A63BE6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3A25DB-1305-47E7-9BDD-6BC7D1BB5D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268646-F422-4ADF-8098-FF7C491C0D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55BD1E-B4E6-41A1-86A2-8339CFE05B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9856A9-3026-45D0-9A19-D7F44A4324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6ECC84-38FD-4539-BE7F-56086D9C57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A35BB9-506E-4DC1-983B-E9CD3AA2AC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D23EB1-EA4A-4AFF-8020-EC8E469F9C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C22815-511B-49A8-88C9-D5E52D406F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2D9328-2169-471E-9682-BBA2AF7DF7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7E5166-CA3C-429F-9783-10B92894F9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D9ACB8-DE73-4E83-97C1-DC125DCB81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audio" Target="../media/media1.m4a"/><Relationship Id="rId2" Type="http://schemas.microsoft.com/office/2007/relationships/media" Target="../media/media1.m4a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audio" Target="../media/media3.m4a"/><Relationship Id="rId2" Type="http://schemas.microsoft.com/office/2007/relationships/media" Target="../media/media3.m4a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audio" Target="../media/media4.m4a"/><Relationship Id="rId2" Type="http://schemas.microsoft.com/office/2007/relationships/media" Target="../media/media4.m4a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audio" Target="../media/media5.m4a"/><Relationship Id="rId2" Type="http://schemas.microsoft.com/office/2007/relationships/media" Target="../media/media5.m4a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audio" Target="../media/media6.m4a"/><Relationship Id="rId2" Type="http://schemas.microsoft.com/office/2007/relationships/media" Target="../media/media6.m4a"/><Relationship Id="rId3" Type="http://schemas.openxmlformats.org/officeDocument/2006/relationships/image" Target="../media/image2.pn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audio" Target="../media/media9.m4a"/><Relationship Id="rId2" Type="http://schemas.microsoft.com/office/2007/relationships/media" Target="../media/media9.m4a"/><Relationship Id="rId3" Type="http://schemas.openxmlformats.org/officeDocument/2006/relationships/image" Target="../media/image2.pn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audio" Target="../media/media12.m4a"/><Relationship Id="rId2" Type="http://schemas.microsoft.com/office/2007/relationships/media" Target="../media/media12.m4a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audio" Target="../media/media13.m4a"/><Relationship Id="rId2" Type="http://schemas.microsoft.com/office/2007/relationships/media" Target="../media/media13.m4a"/><Relationship Id="rId3" Type="http://schemas.openxmlformats.org/officeDocument/2006/relationships/image" Target="../media/image2.pn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audio" Target="../media/media15.m4a"/><Relationship Id="rId2" Type="http://schemas.microsoft.com/office/2007/relationships/media" Target="../media/media15.m4a"/><Relationship Id="rId3" Type="http://schemas.openxmlformats.org/officeDocument/2006/relationships/image" Target="../media/image2.pn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audio" Target="../media/media18.m4a"/><Relationship Id="rId2" Type="http://schemas.microsoft.com/office/2007/relationships/media" Target="../media/media18.m4a"/><Relationship Id="rId3" Type="http://schemas.openxmlformats.org/officeDocument/2006/relationships/image" Target="../media/image2.png"/><Relationship Id="rId4" Type="http://schemas.openxmlformats.org/officeDocument/2006/relationships/image" Target="../media/image19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audio" Target="../media/media20.m4a"/><Relationship Id="rId2" Type="http://schemas.microsoft.com/office/2007/relationships/media" Target="../media/media20.m4a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audio" Target="../media/media21.m4a"/><Relationship Id="rId2" Type="http://schemas.microsoft.com/office/2007/relationships/media" Target="../media/media21.m4a"/><Relationship Id="rId3" Type="http://schemas.openxmlformats.org/officeDocument/2006/relationships/image" Target="../media/image2.png"/><Relationship Id="rId4" Type="http://schemas.openxmlformats.org/officeDocument/2006/relationships/image" Target="../media/image2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audio" Target="../media/media23.m4a"/><Relationship Id="rId2" Type="http://schemas.microsoft.com/office/2007/relationships/media" Target="../media/media23.m4a"/><Relationship Id="rId3" Type="http://schemas.openxmlformats.org/officeDocument/2006/relationships/image" Target="../media/image2.png"/><Relationship Id="rId4" Type="http://schemas.openxmlformats.org/officeDocument/2006/relationships/image" Target="../media/image2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audio" Target="../media/media25.m4a"/><Relationship Id="rId2" Type="http://schemas.microsoft.com/office/2007/relationships/media" Target="../media/media25.m4a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audio" Target="../media/media26.m4a"/><Relationship Id="rId2" Type="http://schemas.microsoft.com/office/2007/relationships/media" Target="../media/media26.m4a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229600" y="434340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9143280" cy="10908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6217920" y="109800"/>
            <a:ext cx="2925360" cy="5033160"/>
          </a:xfrm>
          <a:prstGeom prst="rect">
            <a:avLst/>
          </a:prstGeom>
          <a:solidFill>
            <a:srgbClr val="1E5FAD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7498080" y="109800"/>
            <a:ext cx="1645200" cy="5033160"/>
          </a:xfrm>
          <a:prstGeom prst="rect">
            <a:avLst/>
          </a:prstGeom>
          <a:solidFill>
            <a:srgbClr val="E8A02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457200" y="731520"/>
            <a:ext cx="5942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Predicting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Fraudulent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Job Postings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457200" y="2697480"/>
            <a:ext cx="5942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Using Machine Learning and </a:t>
            </a:r>
            <a:r>
              <a:rPr lang="en-US" sz="16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Natural Language Processing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457200" y="3337560"/>
            <a:ext cx="1645200" cy="4500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57200" y="3493080"/>
            <a:ext cx="5942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Timothy Hollis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Bellevue University  |  DSC630 – </a:t>
            </a:r>
            <a:r>
              <a:rPr lang="en-US" sz="13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Predictive Analytics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Professor Andrew Hua  |  May 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30000" p14:dur="2000"/>
    </mc:Choice>
    <mc:Fallback>
      <p:transition spd="slow" advTm="30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001000" y="1600200"/>
            <a:ext cx="506520" cy="506520"/>
          </a:xfrm>
          <a:prstGeom prst="rect">
            <a:avLst/>
          </a:prstGeom>
          <a:ln w="0">
            <a:noFill/>
          </a:ln>
        </p:spPr>
      </p:pic>
      <p:sp>
        <p:nvSpPr>
          <p:cNvPr id="19" name="Shape 0"/>
          <p:cNvSpPr/>
          <p:nvPr/>
        </p:nvSpPr>
        <p:spPr>
          <a:xfrm>
            <a:off x="0" y="0"/>
            <a:ext cx="9143280" cy="10908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365760" y="1005840"/>
            <a:ext cx="2559600" cy="1416600"/>
          </a:xfrm>
          <a:prstGeom prst="rect">
            <a:avLst/>
          </a:prstGeom>
          <a:solidFill>
            <a:srgbClr val="1E5FA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365760" y="1078920"/>
            <a:ext cx="25596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17,880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365760" y="1827720"/>
            <a:ext cx="255960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Job postings analyzed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3291840" y="1005840"/>
            <a:ext cx="2559600" cy="141660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3291840" y="1078920"/>
            <a:ext cx="25596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4.8%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3291840" y="1827720"/>
            <a:ext cx="255960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Were fraudulent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6217920" y="1005840"/>
            <a:ext cx="2559600" cy="1416600"/>
          </a:xfrm>
          <a:prstGeom prst="rect">
            <a:avLst/>
          </a:prstGeom>
          <a:solidFill>
            <a:srgbClr val="1A6B3C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217920" y="1078920"/>
            <a:ext cx="25596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$2B+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6217920" y="1827720"/>
            <a:ext cx="255960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Lost to job scams annually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365760" y="2633400"/>
            <a:ext cx="8411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Fraudulent job postings harm real people.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365760" y="3063240"/>
            <a:ext cx="84117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Victims face identity theft, financial loss, and emotional harm — often during an already vulnerable job search.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Existing manual review processes cannot scale. An automated detection system is essential.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42000" p14:dur="2000"/>
    </mc:Choice>
    <mc:Fallback>
      <p:transition spd="slow" advTm="42000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001000" y="413280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33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Research Question &amp; Approach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347400" y="1051560"/>
            <a:ext cx="8448480" cy="123372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12708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347400" y="1051560"/>
            <a:ext cx="84484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"Can the characteristics of a job posting predict whether it is fraudulent?"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347400" y="2487240"/>
            <a:ext cx="2651040" cy="233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347400" y="2487240"/>
            <a:ext cx="2651040" cy="723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457200" y="2578680"/>
            <a:ext cx="2431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Structured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Features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57200" y="3255120"/>
            <a:ext cx="243144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Boolean flags, categorical metadata, engineered signals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3182040" y="2487240"/>
            <a:ext cx="2651040" cy="233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3182040" y="2487240"/>
            <a:ext cx="2651040" cy="72360"/>
          </a:xfrm>
          <a:prstGeom prst="rect">
            <a:avLst/>
          </a:prstGeom>
          <a:solidFill>
            <a:srgbClr val="1A6B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3291840" y="2578680"/>
            <a:ext cx="2431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NLP 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Features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3291840" y="3255120"/>
            <a:ext cx="243144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TF-IDF on cleaned job posting text across 5 fields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2"/>
          <p:cNvSpPr/>
          <p:nvPr/>
        </p:nvSpPr>
        <p:spPr>
          <a:xfrm>
            <a:off x="6016680" y="2487240"/>
            <a:ext cx="2651040" cy="233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6016680" y="2487240"/>
            <a:ext cx="2651040" cy="723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6126480" y="2578680"/>
            <a:ext cx="2431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Asymmetric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Cost Focus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6126480" y="3255120"/>
            <a:ext cx="243144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Missing fraud (false negative) is worse than a false alarm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45000" p14:dur="2000"/>
    </mc:Choice>
    <mc:Fallback>
      <p:transition spd="slow" advTm="4500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951320" y="4065120"/>
            <a:ext cx="735120" cy="735120"/>
          </a:xfrm>
          <a:prstGeom prst="rect">
            <a:avLst/>
          </a:prstGeom>
          <a:ln w="0">
            <a:noFill/>
          </a:ln>
        </p:spPr>
      </p:pic>
      <p:sp>
        <p:nvSpPr>
          <p:cNvPr id="5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Dataset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347400" y="1005840"/>
            <a:ext cx="3931200" cy="383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457200" y="1078920"/>
            <a:ext cx="371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Employment Scam Aegean Dataset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457200" y="1463040"/>
            <a:ext cx="3711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(EMSCAD) — Shivamb, 2020 / Vidros et al., 2017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457200" y="1874520"/>
            <a:ext cx="822240" cy="4748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457200" y="1874520"/>
            <a:ext cx="822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17,880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1389960" y="1947600"/>
            <a:ext cx="2651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total job postings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457200" y="2532960"/>
            <a:ext cx="822240" cy="4748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457200" y="2532960"/>
            <a:ext cx="822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866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1389960" y="2606040"/>
            <a:ext cx="2651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fraudulent (4.8%)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457200" y="3191400"/>
            <a:ext cx="822240" cy="4748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457200" y="3191400"/>
            <a:ext cx="822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1389960" y="3264480"/>
            <a:ext cx="2651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features per record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457200" y="3849480"/>
            <a:ext cx="822240" cy="4748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457200" y="3849480"/>
            <a:ext cx="822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2000–2014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1389960" y="3922920"/>
            <a:ext cx="2651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collection period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7"/>
          <p:cNvSpPr/>
          <p:nvPr/>
        </p:nvSpPr>
        <p:spPr>
          <a:xfrm>
            <a:off x="4480560" y="1005840"/>
            <a:ext cx="4315320" cy="383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4617720" y="1078920"/>
            <a:ext cx="4041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Feature Types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9"/>
          <p:cNvSpPr/>
          <p:nvPr/>
        </p:nvSpPr>
        <p:spPr>
          <a:xfrm>
            <a:off x="4617720" y="1572840"/>
            <a:ext cx="54000" cy="593640"/>
          </a:xfrm>
          <a:prstGeom prst="rect">
            <a:avLst/>
          </a:prstGeom>
          <a:solidFill>
            <a:srgbClr val="1A6B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4773240" y="15728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Free-Text Fields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4773240" y="184716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Title, company profile, description, requirements, benefits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4617720" y="2377440"/>
            <a:ext cx="54000" cy="5936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4773240" y="23774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Structured Metadata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4"/>
          <p:cNvSpPr/>
          <p:nvPr/>
        </p:nvSpPr>
        <p:spPr>
          <a:xfrm>
            <a:off x="4773240" y="265176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Location, employment type, experience, education, industry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5"/>
          <p:cNvSpPr/>
          <p:nvPr/>
        </p:nvSpPr>
        <p:spPr>
          <a:xfrm>
            <a:off x="4617720" y="3182040"/>
            <a:ext cx="54000" cy="5936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6"/>
          <p:cNvSpPr/>
          <p:nvPr/>
        </p:nvSpPr>
        <p:spPr>
          <a:xfrm>
            <a:off x="4773240" y="31820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Boolean Indicators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7"/>
          <p:cNvSpPr/>
          <p:nvPr/>
        </p:nvSpPr>
        <p:spPr>
          <a:xfrm>
            <a:off x="4773240" y="345636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Company logo, screening questions, telecommuting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8"/>
          <p:cNvSpPr/>
          <p:nvPr/>
        </p:nvSpPr>
        <p:spPr>
          <a:xfrm>
            <a:off x="4617720" y="3986640"/>
            <a:ext cx="54000" cy="59364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9"/>
          <p:cNvSpPr/>
          <p:nvPr/>
        </p:nvSpPr>
        <p:spPr>
          <a:xfrm>
            <a:off x="4773240" y="39866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Engineered Features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0"/>
          <p:cNvSpPr/>
          <p:nvPr/>
        </p:nvSpPr>
        <p:spPr>
          <a:xfrm>
            <a:off x="4773240" y="426096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has_salary, has_profile, description length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58000" p14:dur="2000"/>
    </mc:Choice>
    <mc:Fallback>
      <p:transition spd="slow" advTm="58000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001000" y="2693520"/>
            <a:ext cx="506520" cy="506520"/>
          </a:xfrm>
          <a:prstGeom prst="rect">
            <a:avLst/>
          </a:prstGeom>
          <a:ln w="0">
            <a:noFill/>
          </a:ln>
        </p:spPr>
      </p:pic>
      <p:sp>
        <p:nvSpPr>
          <p:cNvPr id="82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Exploratory Analysis: Structural Fraud Signals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4"/>
          <a:stretch/>
        </p:blipFill>
        <p:spPr>
          <a:xfrm>
            <a:off x="347400" y="960120"/>
            <a:ext cx="4159800" cy="237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2"/>
          <p:cNvSpPr/>
          <p:nvPr/>
        </p:nvSpPr>
        <p:spPr>
          <a:xfrm>
            <a:off x="347400" y="3401640"/>
            <a:ext cx="415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Company logo absence = 8× higher fraud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1" descr="preencoded.png"/>
          <p:cNvPicPr/>
          <p:nvPr/>
        </p:nvPicPr>
        <p:blipFill>
          <a:blip r:embed="rId5"/>
          <a:stretch/>
        </p:blipFill>
        <p:spPr>
          <a:xfrm>
            <a:off x="4754880" y="960120"/>
            <a:ext cx="4159800" cy="237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3"/>
          <p:cNvSpPr/>
          <p:nvPr/>
        </p:nvSpPr>
        <p:spPr>
          <a:xfrm>
            <a:off x="4754880" y="3401640"/>
            <a:ext cx="415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Screening questions absent = 2× higher fraud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347400" y="3822120"/>
            <a:ext cx="8448480" cy="723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347400" y="3931920"/>
            <a:ext cx="8448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Key insight: Structural effort — adding a logo, creating questions — strongly predicts legitimacy.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46000" p14:dur="2000"/>
    </mc:Choice>
    <mc:Fallback>
      <p:transition spd="slow" advTm="46000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30240" y="4293720"/>
            <a:ext cx="506520" cy="506520"/>
          </a:xfrm>
          <a:prstGeom prst="rect">
            <a:avLst/>
          </a:prstGeom>
          <a:ln w="0">
            <a:noFill/>
          </a:ln>
        </p:spPr>
      </p:pic>
      <p:sp>
        <p:nvSpPr>
          <p:cNvPr id="91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Exploratory Analysis: Interaction Effects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4"/>
          <a:stretch/>
        </p:blipFill>
        <p:spPr>
          <a:xfrm>
            <a:off x="347400" y="914400"/>
            <a:ext cx="5302800" cy="157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2"/>
          <p:cNvSpPr/>
          <p:nvPr/>
        </p:nvSpPr>
        <p:spPr>
          <a:xfrm>
            <a:off x="347400" y="2523600"/>
            <a:ext cx="5302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Fraud concentrates in specific role/employment intersections — not uniformly distributed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5"/>
          <a:stretch/>
        </p:blipFill>
        <p:spPr>
          <a:xfrm>
            <a:off x="347400" y="2926080"/>
            <a:ext cx="5302800" cy="191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3"/>
          <p:cNvSpPr/>
          <p:nvPr/>
        </p:nvSpPr>
        <p:spPr>
          <a:xfrm>
            <a:off x="347400" y="4873680"/>
            <a:ext cx="5302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Description length is a modest but useful signal — retained as a numeric feature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5833800" y="914400"/>
            <a:ext cx="2962080" cy="397692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5943600" y="987480"/>
            <a:ext cx="27424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Insights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5943600" y="1664280"/>
            <a:ext cx="200520" cy="200520"/>
          </a:xfrm>
          <a:prstGeom prst="ellipse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6217920" y="1627560"/>
            <a:ext cx="2449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Contract/Executive postings show 40% fraud rate (n=10, interpret with caution)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5943600" y="2414160"/>
            <a:ext cx="200520" cy="200520"/>
          </a:xfrm>
          <a:prstGeom prst="ellipse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6217920" y="2377440"/>
            <a:ext cx="2449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Temporary roles show near-zero fraud across all experience levels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5943600" y="3163680"/>
            <a:ext cx="200520" cy="200520"/>
          </a:xfrm>
          <a:prstGeom prst="ellipse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6217920" y="3127320"/>
            <a:ext cx="2449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Fraudulent postings average 66 fewer characters in description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5943600" y="3913560"/>
            <a:ext cx="200520" cy="200520"/>
          </a:xfrm>
          <a:prstGeom prst="ellipse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6217920" y="3877200"/>
            <a:ext cx="2449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Interaction between type and experience adds signal beyond either alone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55000" p14:dur="2000"/>
    </mc:Choice>
    <mc:Fallback>
      <p:transition spd="slow" advTm="55000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951320" y="4065120"/>
            <a:ext cx="735120" cy="735120"/>
          </a:xfrm>
          <a:prstGeom prst="rect">
            <a:avLst/>
          </a:prstGeom>
          <a:ln w="0">
            <a:noFill/>
          </a:ln>
        </p:spPr>
      </p:pic>
      <p:sp>
        <p:nvSpPr>
          <p:cNvPr id="108" name="Shape 0"/>
          <p:cNvSpPr/>
          <p:nvPr/>
        </p:nvSpPr>
        <p:spPr>
          <a:xfrm>
            <a:off x="0" y="0"/>
            <a:ext cx="9143280" cy="10908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Methods: Pipeline Overview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365760" y="960120"/>
            <a:ext cx="1572120" cy="3885480"/>
          </a:xfrm>
          <a:prstGeom prst="rect">
            <a:avLst/>
          </a:prstGeom>
          <a:solidFill>
            <a:srgbClr val="1E5FAD">
              <a:alpha val="85000"/>
            </a:srgbClr>
          </a:solidFill>
          <a:ln w="12700">
            <a:solidFill>
              <a:srgbClr val="1E5FA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923400" y="1042560"/>
            <a:ext cx="456480" cy="456480"/>
          </a:xfrm>
          <a:prstGeom prst="ellipse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923400" y="10425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438840" y="1572840"/>
            <a:ext cx="1425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Text Cleaning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438840" y="2103120"/>
            <a:ext cx="142560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Lowercase → strip punctuation → remove stopwords → drop tokens &lt; 3 chars → concatenate 5 fields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1938240" y="2926080"/>
            <a:ext cx="146520" cy="360"/>
          </a:xfrm>
          <a:prstGeom prst="line">
            <a:avLst/>
          </a:prstGeom>
          <a:ln w="19050">
            <a:solidFill>
              <a:srgbClr val="FFFFFF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2084760" y="960120"/>
            <a:ext cx="1572120" cy="3885480"/>
          </a:xfrm>
          <a:prstGeom prst="rect">
            <a:avLst/>
          </a:prstGeom>
          <a:solidFill>
            <a:srgbClr val="1A6B3C">
              <a:alpha val="85000"/>
            </a:srgbClr>
          </a:solidFill>
          <a:ln w="12700">
            <a:solidFill>
              <a:srgbClr val="1A6B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2642760" y="1042560"/>
            <a:ext cx="456480" cy="456480"/>
          </a:xfrm>
          <a:prstGeom prst="ellipse">
            <a:avLst/>
          </a:prstGeom>
          <a:solidFill>
            <a:srgbClr val="1A6B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2642760" y="10425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2157840" y="1572840"/>
            <a:ext cx="1425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 Engineering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2157840" y="2103120"/>
            <a:ext cx="142560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TF-IDF (5,000 features) + OHE categoricals (2,948) + Boolean/numeric (6) = 7,954 total features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3657600" y="2926080"/>
            <a:ext cx="146160" cy="360"/>
          </a:xfrm>
          <a:prstGeom prst="line">
            <a:avLst/>
          </a:prstGeom>
          <a:ln w="19050">
            <a:solidFill>
              <a:srgbClr val="FFFFFF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3803760" y="960120"/>
            <a:ext cx="1572120" cy="3885480"/>
          </a:xfrm>
          <a:prstGeom prst="rect">
            <a:avLst/>
          </a:prstGeom>
          <a:solidFill>
            <a:srgbClr val="E8A020">
              <a:alpha val="85000"/>
            </a:srgbClr>
          </a:solidFill>
          <a:ln w="12700">
            <a:solidFill>
              <a:srgbClr val="E8A02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4361760" y="1042560"/>
            <a:ext cx="456480" cy="456480"/>
          </a:xfrm>
          <a:prstGeom prst="ellipse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4361760" y="10425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3877200" y="1572840"/>
            <a:ext cx="1425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SMOTE Oversampling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3877200" y="2103120"/>
            <a:ext cx="142560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Applied to training data only. Minority class: 693 → 4,491. Total training: 14,304 → 18,102 rows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9"/>
          <p:cNvSpPr/>
          <p:nvPr/>
        </p:nvSpPr>
        <p:spPr>
          <a:xfrm>
            <a:off x="5376600" y="2926080"/>
            <a:ext cx="146160" cy="360"/>
          </a:xfrm>
          <a:prstGeom prst="line">
            <a:avLst/>
          </a:prstGeom>
          <a:ln w="19050">
            <a:solidFill>
              <a:srgbClr val="FFFFFF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0"/>
          <p:cNvSpPr/>
          <p:nvPr/>
        </p:nvSpPr>
        <p:spPr>
          <a:xfrm>
            <a:off x="5523120" y="960120"/>
            <a:ext cx="1572120" cy="388548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1"/>
          <p:cNvSpPr/>
          <p:nvPr/>
        </p:nvSpPr>
        <p:spPr>
          <a:xfrm>
            <a:off x="6080760" y="1042560"/>
            <a:ext cx="456480" cy="45648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2"/>
          <p:cNvSpPr/>
          <p:nvPr/>
        </p:nvSpPr>
        <p:spPr>
          <a:xfrm>
            <a:off x="6080760" y="10425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3"/>
          <p:cNvSpPr/>
          <p:nvPr/>
        </p:nvSpPr>
        <p:spPr>
          <a:xfrm>
            <a:off x="5596200" y="1572840"/>
            <a:ext cx="1425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 Training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4"/>
          <p:cNvSpPr/>
          <p:nvPr/>
        </p:nvSpPr>
        <p:spPr>
          <a:xfrm>
            <a:off x="5596200" y="2103120"/>
            <a:ext cx="142560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Logistic Regression (baseline) vs Random Forest (ensemble). Stratified 80/20 split. Balanced class weights.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5"/>
          <p:cNvSpPr/>
          <p:nvPr/>
        </p:nvSpPr>
        <p:spPr>
          <a:xfrm>
            <a:off x="7095600" y="2926080"/>
            <a:ext cx="146160" cy="360"/>
          </a:xfrm>
          <a:prstGeom prst="line">
            <a:avLst/>
          </a:prstGeom>
          <a:ln w="19050">
            <a:solidFill>
              <a:srgbClr val="FFFFFF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6"/>
          <p:cNvSpPr/>
          <p:nvPr/>
        </p:nvSpPr>
        <p:spPr>
          <a:xfrm>
            <a:off x="7242120" y="960120"/>
            <a:ext cx="1572120" cy="3885480"/>
          </a:xfrm>
          <a:prstGeom prst="rect">
            <a:avLst/>
          </a:prstGeom>
          <a:solidFill>
            <a:srgbClr val="6A1B9A">
              <a:alpha val="85000"/>
            </a:srgbClr>
          </a:solidFill>
          <a:ln w="12700">
            <a:solidFill>
              <a:srgbClr val="6A1B9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7"/>
          <p:cNvSpPr/>
          <p:nvPr/>
        </p:nvSpPr>
        <p:spPr>
          <a:xfrm>
            <a:off x="7799760" y="1042560"/>
            <a:ext cx="456480" cy="456480"/>
          </a:xfrm>
          <a:prstGeom prst="ellipse">
            <a:avLst/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8"/>
          <p:cNvSpPr/>
          <p:nvPr/>
        </p:nvSpPr>
        <p:spPr>
          <a:xfrm>
            <a:off x="7799760" y="10425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9"/>
          <p:cNvSpPr/>
          <p:nvPr/>
        </p:nvSpPr>
        <p:spPr>
          <a:xfrm>
            <a:off x="7315200" y="1572840"/>
            <a:ext cx="1425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Threshold Tuning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0"/>
          <p:cNvSpPr/>
          <p:nvPr/>
        </p:nvSpPr>
        <p:spPr>
          <a:xfrm>
            <a:off x="7315200" y="2103120"/>
            <a:ext cx="142560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Sweep 0.10–0.90. Select threshold with recall ≥ 0.90 on fraud class and maximum precision at that floor.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71000" p14:dur="2000"/>
    </mc:Choice>
    <mc:Fallback>
      <p:transition spd="slow" advTm="7100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79920" y="3150720"/>
            <a:ext cx="277920" cy="277920"/>
          </a:xfrm>
          <a:prstGeom prst="rect">
            <a:avLst/>
          </a:prstGeom>
          <a:ln w="0">
            <a:noFill/>
          </a:ln>
        </p:spPr>
      </p:pic>
      <p:sp>
        <p:nvSpPr>
          <p:cNvPr id="14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Results: Logistic Regression — Default Threshold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4"/>
          <a:stretch/>
        </p:blipFill>
        <p:spPr>
          <a:xfrm>
            <a:off x="347400" y="960120"/>
            <a:ext cx="3474000" cy="243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Shape 2"/>
          <p:cNvSpPr/>
          <p:nvPr/>
        </p:nvSpPr>
        <p:spPr>
          <a:xfrm>
            <a:off x="4096440" y="960120"/>
            <a:ext cx="1480680" cy="1114920"/>
          </a:xfrm>
          <a:prstGeom prst="rect">
            <a:avLst/>
          </a:prstGeom>
          <a:solidFill>
            <a:srgbClr val="1E5FA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4096440" y="1033200"/>
            <a:ext cx="14806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0.789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4096440" y="1607040"/>
            <a:ext cx="1480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F1 Score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5"/>
          <p:cNvSpPr/>
          <p:nvPr/>
        </p:nvSpPr>
        <p:spPr>
          <a:xfrm>
            <a:off x="5760720" y="960120"/>
            <a:ext cx="1480680" cy="1114920"/>
          </a:xfrm>
          <a:prstGeom prst="rect">
            <a:avLst/>
          </a:prstGeom>
          <a:solidFill>
            <a:srgbClr val="1E5FA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5760720" y="1033200"/>
            <a:ext cx="14806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0.989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5760720" y="1607040"/>
            <a:ext cx="1480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AUC-ROC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7425000" y="960120"/>
            <a:ext cx="1480680" cy="1114920"/>
          </a:xfrm>
          <a:prstGeom prst="rect">
            <a:avLst/>
          </a:prstGeom>
          <a:solidFill>
            <a:srgbClr val="1E5FA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7425000" y="1033200"/>
            <a:ext cx="14806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0.916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7425000" y="1607040"/>
            <a:ext cx="1480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AUC-PR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4096440" y="2240280"/>
            <a:ext cx="4699440" cy="126108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4206240" y="2304360"/>
            <a:ext cx="447984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157 of 173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fraudulent postings caught  (recall = 91%)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68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legitimate postings incorrectly flagged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347400" y="3493080"/>
            <a:ext cx="844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Strong recall at default threshold — but 68 false positives motivated threshold tuning.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64000" p14:dur="2000"/>
    </mc:Choice>
    <mc:Fallback>
      <p:transition spd="slow" advTm="6400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001000" y="2241000"/>
            <a:ext cx="446760" cy="446760"/>
          </a:xfrm>
          <a:prstGeom prst="rect">
            <a:avLst/>
          </a:prstGeom>
          <a:ln w="0">
            <a:noFill/>
          </a:ln>
        </p:spPr>
      </p:pic>
      <p:sp>
        <p:nvSpPr>
          <p:cNvPr id="156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Results: Logistic Regression — Tuned Threshold (0.54)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preencoded.png"/>
          <p:cNvPicPr/>
          <p:nvPr/>
        </p:nvPicPr>
        <p:blipFill>
          <a:blip r:embed="rId4"/>
          <a:stretch/>
        </p:blipFill>
        <p:spPr>
          <a:xfrm>
            <a:off x="347400" y="954360"/>
            <a:ext cx="3474000" cy="243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Image 1" descr="preencoded.png"/>
          <p:cNvPicPr/>
          <p:nvPr/>
        </p:nvPicPr>
        <p:blipFill>
          <a:blip r:embed="rId5"/>
          <a:stretch/>
        </p:blipFill>
        <p:spPr>
          <a:xfrm>
            <a:off x="347400" y="3456720"/>
            <a:ext cx="4114080" cy="157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Shape 2"/>
          <p:cNvSpPr/>
          <p:nvPr/>
        </p:nvSpPr>
        <p:spPr>
          <a:xfrm>
            <a:off x="4096440" y="960120"/>
            <a:ext cx="4699440" cy="184644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4206240" y="102420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Threshold 0.54 — Selected Result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4206240" y="14630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F1 Score: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6217920" y="146304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6B3C"/>
                </a:solidFill>
                <a:effectLst/>
                <a:uFillTx/>
                <a:latin typeface="Calibri"/>
                <a:ea typeface="Calibri"/>
              </a:rPr>
              <a:t>0.812 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4206240" y="177408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Recall: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217920" y="177408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6B3C"/>
                </a:solidFill>
                <a:effectLst/>
                <a:uFillTx/>
                <a:latin typeface="Calibri"/>
                <a:ea typeface="Calibri"/>
              </a:rPr>
              <a:t>90.2%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4206240" y="208476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Precision: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6217920" y="208476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73.9%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4206240" y="239580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False Positives: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6217920" y="239580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6B3C"/>
                </a:solidFill>
                <a:effectLst/>
                <a:uFillTx/>
                <a:latin typeface="Calibri"/>
                <a:ea typeface="Calibri"/>
              </a:rPr>
              <a:t>55 (↓ from 68)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4444200" y="3242160"/>
            <a:ext cx="4699440" cy="190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4663800" y="3200400"/>
            <a:ext cx="4479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The trade-off at 0.54: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4"/>
          <p:cNvSpPr/>
          <p:nvPr/>
        </p:nvSpPr>
        <p:spPr>
          <a:xfrm>
            <a:off x="4572000" y="3547440"/>
            <a:ext cx="44798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−1 fraudulent posting caught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6B3C"/>
                </a:solidFill>
                <a:effectLst/>
                <a:uFillTx/>
                <a:latin typeface="Calibri"/>
                <a:ea typeface="Calibri"/>
              </a:rPr>
              <a:t>−13 legitimate postings incorrectly flagged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→ Best F1 of any configuration tested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61000" p14:dur="2000"/>
    </mc:Choice>
    <mc:Fallback>
      <p:transition spd="slow" advTm="61000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956000" y="2469600"/>
            <a:ext cx="730440" cy="730440"/>
          </a:xfrm>
          <a:prstGeom prst="rect">
            <a:avLst/>
          </a:prstGeom>
          <a:ln w="0">
            <a:noFill/>
          </a:ln>
        </p:spPr>
      </p:pic>
      <p:sp>
        <p:nvSpPr>
          <p:cNvPr id="174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Results: Random Forest — A Different Operating Profile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0" descr="preencoded.png"/>
          <p:cNvPicPr/>
          <p:nvPr/>
        </p:nvPicPr>
        <p:blipFill>
          <a:blip r:embed="rId4"/>
          <a:stretch/>
        </p:blipFill>
        <p:spPr>
          <a:xfrm>
            <a:off x="347400" y="960120"/>
            <a:ext cx="3474000" cy="243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Shape 2"/>
          <p:cNvSpPr/>
          <p:nvPr/>
        </p:nvSpPr>
        <p:spPr>
          <a:xfrm>
            <a:off x="4096440" y="960120"/>
            <a:ext cx="4699440" cy="118800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"/>
          <p:cNvSpPr/>
          <p:nvPr/>
        </p:nvSpPr>
        <p:spPr>
          <a:xfrm>
            <a:off x="4206240" y="1024200"/>
            <a:ext cx="447984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AUC-ROC: 0.993  |  AUC-PR: 0.928  |  F1: 0.786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Highest AUC scores — but the confusion matrix tells a different story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>
            <a:off x="4096440" y="2304360"/>
            <a:ext cx="2212200" cy="1389240"/>
          </a:xfrm>
          <a:prstGeom prst="rect">
            <a:avLst/>
          </a:prstGeom>
          <a:solidFill>
            <a:srgbClr val="1A6B3C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4096440" y="2377440"/>
            <a:ext cx="2212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4096440" y="2926080"/>
            <a:ext cx="2212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False Positives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6583680" y="2304360"/>
            <a:ext cx="2212200" cy="138924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6583680" y="2377440"/>
            <a:ext cx="2212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6583680" y="2926080"/>
            <a:ext cx="2212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Fraud Missed (FN)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0"/>
          <p:cNvSpPr/>
          <p:nvPr/>
        </p:nvSpPr>
        <p:spPr>
          <a:xfrm>
            <a:off x="347400" y="3547800"/>
            <a:ext cx="8448480" cy="1325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502920" y="3620880"/>
            <a:ext cx="81374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The random forest is a high-precision, lower-recall model. It never flags a legitimate posting incorrectly — but it misses more than 1 in 3 fraudulent postings. In a context where missing fraud means real people get deceived, that miss rate is the operative concern.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61000" p14:dur="2000"/>
    </mc:Choice>
    <mc:Fallback>
      <p:transition spd="slow" advTm="6100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84600" y="434340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188" name="Shape 0"/>
          <p:cNvSpPr/>
          <p:nvPr/>
        </p:nvSpPr>
        <p:spPr>
          <a:xfrm>
            <a:off x="0" y="0"/>
            <a:ext cx="9143280" cy="10908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 Comparison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411480" y="960120"/>
            <a:ext cx="2376720" cy="4748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484560" y="960120"/>
            <a:ext cx="2230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Metric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2788920" y="960120"/>
            <a:ext cx="1919520" cy="4748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2862000" y="96012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LR Default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4709160" y="960120"/>
            <a:ext cx="2102400" cy="4748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4782240" y="960120"/>
            <a:ext cx="1956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LR Tuned (0.54)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6812280" y="960120"/>
            <a:ext cx="1919520" cy="47484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6885360" y="96012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Random Forest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411480" y="1435680"/>
            <a:ext cx="237672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484560" y="1435680"/>
            <a:ext cx="2230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F1 Score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2788920" y="1435680"/>
            <a:ext cx="191952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2862000" y="143568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0.789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4"/>
          <p:cNvSpPr/>
          <p:nvPr/>
        </p:nvSpPr>
        <p:spPr>
          <a:xfrm>
            <a:off x="4709160" y="1435680"/>
            <a:ext cx="2102400" cy="474840"/>
          </a:xfrm>
          <a:prstGeom prst="rect">
            <a:avLst/>
          </a:prstGeom>
          <a:solidFill>
            <a:srgbClr val="1A3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4782240" y="1435680"/>
            <a:ext cx="1956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0.812 ★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6"/>
          <p:cNvSpPr/>
          <p:nvPr/>
        </p:nvSpPr>
        <p:spPr>
          <a:xfrm>
            <a:off x="6812280" y="1435680"/>
            <a:ext cx="191952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6885360" y="143568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0.786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8"/>
          <p:cNvSpPr/>
          <p:nvPr/>
        </p:nvSpPr>
        <p:spPr>
          <a:xfrm>
            <a:off x="411480" y="1911240"/>
            <a:ext cx="237672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484560" y="1911240"/>
            <a:ext cx="2230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AUC-ROC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0"/>
          <p:cNvSpPr/>
          <p:nvPr/>
        </p:nvSpPr>
        <p:spPr>
          <a:xfrm>
            <a:off x="2788920" y="1911240"/>
            <a:ext cx="191952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2862000" y="191124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0.989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2"/>
          <p:cNvSpPr/>
          <p:nvPr/>
        </p:nvSpPr>
        <p:spPr>
          <a:xfrm>
            <a:off x="4709160" y="1911240"/>
            <a:ext cx="210240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3"/>
          <p:cNvSpPr/>
          <p:nvPr/>
        </p:nvSpPr>
        <p:spPr>
          <a:xfrm>
            <a:off x="4782240" y="1911240"/>
            <a:ext cx="1956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4"/>
          <p:cNvSpPr/>
          <p:nvPr/>
        </p:nvSpPr>
        <p:spPr>
          <a:xfrm>
            <a:off x="6812280" y="1911240"/>
            <a:ext cx="1919520" cy="474840"/>
          </a:xfrm>
          <a:prstGeom prst="rect">
            <a:avLst/>
          </a:prstGeom>
          <a:solidFill>
            <a:srgbClr val="1A3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5"/>
          <p:cNvSpPr/>
          <p:nvPr/>
        </p:nvSpPr>
        <p:spPr>
          <a:xfrm>
            <a:off x="6885360" y="191124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0.993 ★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6"/>
          <p:cNvSpPr/>
          <p:nvPr/>
        </p:nvSpPr>
        <p:spPr>
          <a:xfrm>
            <a:off x="411480" y="2386440"/>
            <a:ext cx="237672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7"/>
          <p:cNvSpPr/>
          <p:nvPr/>
        </p:nvSpPr>
        <p:spPr>
          <a:xfrm>
            <a:off x="484560" y="2386440"/>
            <a:ext cx="2230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AUC-PR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8"/>
          <p:cNvSpPr/>
          <p:nvPr/>
        </p:nvSpPr>
        <p:spPr>
          <a:xfrm>
            <a:off x="2788920" y="2386440"/>
            <a:ext cx="191952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9"/>
          <p:cNvSpPr/>
          <p:nvPr/>
        </p:nvSpPr>
        <p:spPr>
          <a:xfrm>
            <a:off x="2862000" y="238644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0.916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0"/>
          <p:cNvSpPr/>
          <p:nvPr/>
        </p:nvSpPr>
        <p:spPr>
          <a:xfrm>
            <a:off x="4709160" y="2386440"/>
            <a:ext cx="210240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1"/>
          <p:cNvSpPr/>
          <p:nvPr/>
        </p:nvSpPr>
        <p:spPr>
          <a:xfrm>
            <a:off x="4782240" y="2386440"/>
            <a:ext cx="1956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2"/>
          <p:cNvSpPr/>
          <p:nvPr/>
        </p:nvSpPr>
        <p:spPr>
          <a:xfrm>
            <a:off x="6812280" y="2386440"/>
            <a:ext cx="1919520" cy="474840"/>
          </a:xfrm>
          <a:prstGeom prst="rect">
            <a:avLst/>
          </a:prstGeom>
          <a:solidFill>
            <a:srgbClr val="1A3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3"/>
          <p:cNvSpPr/>
          <p:nvPr/>
        </p:nvSpPr>
        <p:spPr>
          <a:xfrm>
            <a:off x="6885360" y="238644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0.928 ★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4"/>
          <p:cNvSpPr/>
          <p:nvPr/>
        </p:nvSpPr>
        <p:spPr>
          <a:xfrm>
            <a:off x="411480" y="2862000"/>
            <a:ext cx="237672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5"/>
          <p:cNvSpPr/>
          <p:nvPr/>
        </p:nvSpPr>
        <p:spPr>
          <a:xfrm>
            <a:off x="484560" y="2862000"/>
            <a:ext cx="2230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Fraud Caught (TP)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6"/>
          <p:cNvSpPr/>
          <p:nvPr/>
        </p:nvSpPr>
        <p:spPr>
          <a:xfrm>
            <a:off x="2788920" y="2862000"/>
            <a:ext cx="191952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7"/>
          <p:cNvSpPr/>
          <p:nvPr/>
        </p:nvSpPr>
        <p:spPr>
          <a:xfrm>
            <a:off x="2862000" y="286200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157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8"/>
          <p:cNvSpPr/>
          <p:nvPr/>
        </p:nvSpPr>
        <p:spPr>
          <a:xfrm>
            <a:off x="4709160" y="2862000"/>
            <a:ext cx="210240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9"/>
          <p:cNvSpPr/>
          <p:nvPr/>
        </p:nvSpPr>
        <p:spPr>
          <a:xfrm>
            <a:off x="4782240" y="2862000"/>
            <a:ext cx="1956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0"/>
          <p:cNvSpPr/>
          <p:nvPr/>
        </p:nvSpPr>
        <p:spPr>
          <a:xfrm>
            <a:off x="6812280" y="2862000"/>
            <a:ext cx="191952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1"/>
          <p:cNvSpPr/>
          <p:nvPr/>
        </p:nvSpPr>
        <p:spPr>
          <a:xfrm>
            <a:off x="6885360" y="286200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E7B7"/>
                </a:solidFill>
                <a:effectLst/>
                <a:uFillTx/>
                <a:latin typeface="Calibri"/>
                <a:ea typeface="Calibri"/>
              </a:rPr>
              <a:t>112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2"/>
          <p:cNvSpPr/>
          <p:nvPr/>
        </p:nvSpPr>
        <p:spPr>
          <a:xfrm>
            <a:off x="411480" y="3337560"/>
            <a:ext cx="237672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3"/>
          <p:cNvSpPr/>
          <p:nvPr/>
        </p:nvSpPr>
        <p:spPr>
          <a:xfrm>
            <a:off x="484560" y="3337560"/>
            <a:ext cx="2230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Fraud Missed (FN)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4"/>
          <p:cNvSpPr/>
          <p:nvPr/>
        </p:nvSpPr>
        <p:spPr>
          <a:xfrm>
            <a:off x="2788920" y="3337560"/>
            <a:ext cx="191952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5"/>
          <p:cNvSpPr/>
          <p:nvPr/>
        </p:nvSpPr>
        <p:spPr>
          <a:xfrm>
            <a:off x="2862000" y="333756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E7B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6"/>
          <p:cNvSpPr/>
          <p:nvPr/>
        </p:nvSpPr>
        <p:spPr>
          <a:xfrm>
            <a:off x="4709160" y="3337560"/>
            <a:ext cx="210240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7"/>
          <p:cNvSpPr/>
          <p:nvPr/>
        </p:nvSpPr>
        <p:spPr>
          <a:xfrm>
            <a:off x="4782240" y="3337560"/>
            <a:ext cx="1956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E7B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48"/>
          <p:cNvSpPr/>
          <p:nvPr/>
        </p:nvSpPr>
        <p:spPr>
          <a:xfrm>
            <a:off x="6812280" y="3337560"/>
            <a:ext cx="1919520" cy="474840"/>
          </a:xfrm>
          <a:prstGeom prst="rect">
            <a:avLst/>
          </a:prstGeom>
          <a:solidFill>
            <a:srgbClr val="122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9"/>
          <p:cNvSpPr/>
          <p:nvPr/>
        </p:nvSpPr>
        <p:spPr>
          <a:xfrm>
            <a:off x="6885360" y="333756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50"/>
          <p:cNvSpPr/>
          <p:nvPr/>
        </p:nvSpPr>
        <p:spPr>
          <a:xfrm>
            <a:off x="411480" y="3813120"/>
            <a:ext cx="237672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1"/>
          <p:cNvSpPr/>
          <p:nvPr/>
        </p:nvSpPr>
        <p:spPr>
          <a:xfrm>
            <a:off x="484560" y="3813120"/>
            <a:ext cx="2230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Legit Flagged (FP)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2"/>
          <p:cNvSpPr/>
          <p:nvPr/>
        </p:nvSpPr>
        <p:spPr>
          <a:xfrm>
            <a:off x="2788920" y="3813120"/>
            <a:ext cx="191952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3"/>
          <p:cNvSpPr/>
          <p:nvPr/>
        </p:nvSpPr>
        <p:spPr>
          <a:xfrm>
            <a:off x="2862000" y="381312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68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54"/>
          <p:cNvSpPr/>
          <p:nvPr/>
        </p:nvSpPr>
        <p:spPr>
          <a:xfrm>
            <a:off x="4709160" y="3813120"/>
            <a:ext cx="2102400" cy="47484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5"/>
          <p:cNvSpPr/>
          <p:nvPr/>
        </p:nvSpPr>
        <p:spPr>
          <a:xfrm>
            <a:off x="4782240" y="3813120"/>
            <a:ext cx="1956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56"/>
          <p:cNvSpPr/>
          <p:nvPr/>
        </p:nvSpPr>
        <p:spPr>
          <a:xfrm>
            <a:off x="6812280" y="3813120"/>
            <a:ext cx="1919520" cy="474840"/>
          </a:xfrm>
          <a:prstGeom prst="rect">
            <a:avLst/>
          </a:prstGeom>
          <a:solidFill>
            <a:srgbClr val="1A3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57"/>
          <p:cNvSpPr/>
          <p:nvPr/>
        </p:nvSpPr>
        <p:spPr>
          <a:xfrm>
            <a:off x="6885360" y="3813120"/>
            <a:ext cx="1773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0 ★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58"/>
          <p:cNvSpPr/>
          <p:nvPr/>
        </p:nvSpPr>
        <p:spPr>
          <a:xfrm>
            <a:off x="411480" y="4224600"/>
            <a:ext cx="8320320" cy="712440"/>
          </a:xfrm>
          <a:prstGeom prst="rect">
            <a:avLst/>
          </a:prstGeom>
          <a:solidFill>
            <a:srgbClr val="E8A020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59"/>
          <p:cNvSpPr/>
          <p:nvPr/>
        </p:nvSpPr>
        <p:spPr>
          <a:xfrm>
            <a:off x="548640" y="4297680"/>
            <a:ext cx="8046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★  Recommendation: Logistic Regression at threshold 0.54 — best F1, strong recall (90.2%), manageable false positives (55)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56000" p14:dur="2000"/>
    </mc:Choice>
    <mc:Fallback>
      <p:transition spd="slow" advTm="56000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294040" y="429840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249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What Drives the Model: Feature Importance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0" descr="preencoded.png"/>
          <p:cNvPicPr/>
          <p:nvPr/>
        </p:nvPicPr>
        <p:blipFill>
          <a:blip r:embed="rId4"/>
          <a:stretch/>
        </p:blipFill>
        <p:spPr>
          <a:xfrm>
            <a:off x="347400" y="914400"/>
            <a:ext cx="5485680" cy="394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Shape 2"/>
          <p:cNvSpPr/>
          <p:nvPr/>
        </p:nvSpPr>
        <p:spPr>
          <a:xfrm>
            <a:off x="6035040" y="914400"/>
            <a:ext cx="2760840" cy="141660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6144840" y="987480"/>
            <a:ext cx="2541240" cy="12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Boolean Features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= 8% of importance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55× more informative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than avg. TF-IDF term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4"/>
          <p:cNvSpPr/>
          <p:nvPr/>
        </p:nvSpPr>
        <p:spPr>
          <a:xfrm>
            <a:off x="6035040" y="2487240"/>
            <a:ext cx="2760840" cy="239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6144840" y="2578680"/>
            <a:ext cx="2541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Top Fraud Text Signals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6"/>
          <p:cNvSpPr/>
          <p:nvPr/>
        </p:nvSpPr>
        <p:spPr>
          <a:xfrm>
            <a:off x="6144840" y="2999160"/>
            <a:ext cx="90720" cy="20052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6309360" y="2999160"/>
            <a:ext cx="235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earn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8"/>
          <p:cNvSpPr/>
          <p:nvPr/>
        </p:nvSpPr>
        <p:spPr>
          <a:xfrm>
            <a:off x="6144840" y="3273480"/>
            <a:ext cx="90720" cy="20052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6309360" y="3273480"/>
            <a:ext cx="235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work home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0"/>
          <p:cNvSpPr/>
          <p:nvPr/>
        </p:nvSpPr>
        <p:spPr>
          <a:xfrm>
            <a:off x="6144840" y="3547800"/>
            <a:ext cx="90720" cy="20052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1"/>
          <p:cNvSpPr/>
          <p:nvPr/>
        </p:nvSpPr>
        <p:spPr>
          <a:xfrm>
            <a:off x="6309360" y="3547800"/>
            <a:ext cx="235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data entry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6144840" y="3822120"/>
            <a:ext cx="90720" cy="20052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6309360" y="3822120"/>
            <a:ext cx="235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encouraged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4"/>
          <p:cNvSpPr/>
          <p:nvPr/>
        </p:nvSpPr>
        <p:spPr>
          <a:xfrm>
            <a:off x="6144840" y="4096440"/>
            <a:ext cx="90720" cy="20052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6309360" y="4096440"/>
            <a:ext cx="235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growing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6144840" y="4370760"/>
            <a:ext cx="90720" cy="20052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7"/>
          <p:cNvSpPr/>
          <p:nvPr/>
        </p:nvSpPr>
        <p:spPr>
          <a:xfrm>
            <a:off x="6309360" y="4370760"/>
            <a:ext cx="235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computer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8"/>
          <p:cNvSpPr/>
          <p:nvPr/>
        </p:nvSpPr>
        <p:spPr>
          <a:xfrm>
            <a:off x="6144840" y="4645080"/>
            <a:ext cx="90720" cy="20052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9"/>
          <p:cNvSpPr/>
          <p:nvPr/>
        </p:nvSpPr>
        <p:spPr>
          <a:xfrm>
            <a:off x="6309360" y="4645080"/>
            <a:ext cx="235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position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59000" p14:dur="2000"/>
    </mc:Choice>
    <mc:Fallback>
      <p:transition spd="slow" advTm="59000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229600" y="431604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271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1E5F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"/>
          <p:cNvSpPr/>
          <p:nvPr/>
        </p:nvSpPr>
        <p:spPr>
          <a:xfrm>
            <a:off x="347400" y="25596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Precision-Recall: Why AUC Alone Is Not Enough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0" descr="preencoded.png"/>
          <p:cNvPicPr/>
          <p:nvPr/>
        </p:nvPicPr>
        <p:blipFill>
          <a:blip r:embed="rId4"/>
          <a:stretch/>
        </p:blipFill>
        <p:spPr>
          <a:xfrm>
            <a:off x="347400" y="914400"/>
            <a:ext cx="5028480" cy="402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Shape 2"/>
          <p:cNvSpPr/>
          <p:nvPr/>
        </p:nvSpPr>
        <p:spPr>
          <a:xfrm>
            <a:off x="5577840" y="914400"/>
            <a:ext cx="3218040" cy="402264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5687640" y="1005840"/>
            <a:ext cx="29984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The AUC scores are nearly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identical — 0.916 vs 0.928.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5687640" y="1828800"/>
            <a:ext cx="2998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But the confusion matrices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tell completely different stories: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"/>
          <p:cNvSpPr/>
          <p:nvPr/>
        </p:nvSpPr>
        <p:spPr>
          <a:xfrm>
            <a:off x="5687640" y="2633400"/>
            <a:ext cx="2815560" cy="657720"/>
          </a:xfrm>
          <a:prstGeom prst="rect">
            <a:avLst/>
          </a:prstGeom>
          <a:solidFill>
            <a:srgbClr val="1A6B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5779080" y="2670120"/>
            <a:ext cx="26326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LR Tuned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156 caught / 55 FP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7"/>
          <p:cNvSpPr/>
          <p:nvPr/>
        </p:nvSpPr>
        <p:spPr>
          <a:xfrm>
            <a:off x="5687640" y="3438000"/>
            <a:ext cx="2815560" cy="6577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8"/>
          <p:cNvSpPr/>
          <p:nvPr/>
        </p:nvSpPr>
        <p:spPr>
          <a:xfrm>
            <a:off x="5779080" y="3474720"/>
            <a:ext cx="26326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Rand Forest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112 caught / 0 FP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9"/>
          <p:cNvSpPr/>
          <p:nvPr/>
        </p:nvSpPr>
        <p:spPr>
          <a:xfrm>
            <a:off x="5687640" y="4316040"/>
            <a:ext cx="2998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Lesson: always pair aggregate metrics with confusion matrix analysis in imbalanced classification problems.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64000" p14:dur="2000"/>
    </mc:Choice>
    <mc:Fallback>
      <p:transition spd="slow" advTm="64000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001000" y="429840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283" name="Shape 0"/>
          <p:cNvSpPr/>
          <p:nvPr/>
        </p:nvSpPr>
        <p:spPr>
          <a:xfrm>
            <a:off x="0" y="0"/>
            <a:ext cx="9143280" cy="10908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 &amp; Deployment Recommendation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365760" y="960120"/>
            <a:ext cx="8411760" cy="986760"/>
          </a:xfrm>
          <a:prstGeom prst="rect">
            <a:avLst/>
          </a:prstGeom>
          <a:solidFill>
            <a:srgbClr val="1E5FA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502920" y="1024200"/>
            <a:ext cx="822888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 Logistic Regression at threshold 0.54 as a pre-publication screening tool with human oversight.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365760" y="2121480"/>
            <a:ext cx="1480680" cy="749160"/>
          </a:xfrm>
          <a:prstGeom prst="roundRect">
            <a:avLst>
              <a:gd name="adj" fmla="val 9756"/>
            </a:avLst>
          </a:prstGeom>
          <a:solidFill>
            <a:srgbClr val="0D1B3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365760" y="2121480"/>
            <a:ext cx="1480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Submitted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1846800" y="2496240"/>
            <a:ext cx="182880" cy="360"/>
          </a:xfrm>
          <a:prstGeom prst="line">
            <a:avLst/>
          </a:prstGeom>
          <a:ln w="19050">
            <a:solidFill>
              <a:srgbClr val="C8D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7"/>
          <p:cNvSpPr/>
          <p:nvPr/>
        </p:nvSpPr>
        <p:spPr>
          <a:xfrm>
            <a:off x="2030040" y="2121480"/>
            <a:ext cx="1480680" cy="749160"/>
          </a:xfrm>
          <a:prstGeom prst="roundRect">
            <a:avLst>
              <a:gd name="adj" fmla="val 9756"/>
            </a:avLst>
          </a:prstGeom>
          <a:solidFill>
            <a:srgbClr val="1E5FAD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2030040" y="2121480"/>
            <a:ext cx="1480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Scores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3511080" y="2496240"/>
            <a:ext cx="182880" cy="360"/>
          </a:xfrm>
          <a:prstGeom prst="line">
            <a:avLst/>
          </a:prstGeom>
          <a:ln w="19050">
            <a:solidFill>
              <a:srgbClr val="C8D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3694320" y="2121480"/>
            <a:ext cx="1480680" cy="749160"/>
          </a:xfrm>
          <a:prstGeom prst="roundRect">
            <a:avLst>
              <a:gd name="adj" fmla="val 9756"/>
            </a:avLst>
          </a:prstGeom>
          <a:solidFill>
            <a:srgbClr val="E8A020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3694320" y="2121480"/>
            <a:ext cx="1480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≥ 0.54?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2"/>
          <p:cNvSpPr/>
          <p:nvPr/>
        </p:nvSpPr>
        <p:spPr>
          <a:xfrm>
            <a:off x="5175360" y="2496240"/>
            <a:ext cx="182880" cy="360"/>
          </a:xfrm>
          <a:prstGeom prst="line">
            <a:avLst/>
          </a:prstGeom>
          <a:ln w="19050">
            <a:solidFill>
              <a:srgbClr val="C8D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3"/>
          <p:cNvSpPr/>
          <p:nvPr/>
        </p:nvSpPr>
        <p:spPr>
          <a:xfrm>
            <a:off x="5358240" y="2121480"/>
            <a:ext cx="1480680" cy="749160"/>
          </a:xfrm>
          <a:prstGeom prst="roundRect">
            <a:avLst>
              <a:gd name="adj" fmla="val 9756"/>
            </a:avLst>
          </a:prstGeom>
          <a:solidFill>
            <a:srgbClr val="C0392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4"/>
          <p:cNvSpPr/>
          <p:nvPr/>
        </p:nvSpPr>
        <p:spPr>
          <a:xfrm>
            <a:off x="5358240" y="2121480"/>
            <a:ext cx="1480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Queue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5"/>
          <p:cNvSpPr/>
          <p:nvPr/>
        </p:nvSpPr>
        <p:spPr>
          <a:xfrm>
            <a:off x="6839640" y="2496240"/>
            <a:ext cx="182880" cy="360"/>
          </a:xfrm>
          <a:prstGeom prst="line">
            <a:avLst/>
          </a:prstGeom>
          <a:ln w="19050">
            <a:solidFill>
              <a:srgbClr val="C8D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6"/>
          <p:cNvSpPr/>
          <p:nvPr/>
        </p:nvSpPr>
        <p:spPr>
          <a:xfrm>
            <a:off x="7022520" y="2121480"/>
            <a:ext cx="1480680" cy="749160"/>
          </a:xfrm>
          <a:prstGeom prst="roundRect">
            <a:avLst>
              <a:gd name="adj" fmla="val 9756"/>
            </a:avLst>
          </a:prstGeom>
          <a:solidFill>
            <a:srgbClr val="1A6B3C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7"/>
          <p:cNvSpPr/>
          <p:nvPr/>
        </p:nvSpPr>
        <p:spPr>
          <a:xfrm>
            <a:off x="7022520" y="2121480"/>
            <a:ext cx="1480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Published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 Removed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8"/>
          <p:cNvSpPr/>
          <p:nvPr/>
        </p:nvSpPr>
        <p:spPr>
          <a:xfrm>
            <a:off x="365760" y="3035880"/>
            <a:ext cx="4022640" cy="1873800"/>
          </a:xfrm>
          <a:prstGeom prst="rect">
            <a:avLst/>
          </a:prstGeom>
          <a:solidFill>
            <a:srgbClr val="0A1428"/>
          </a:solidFill>
          <a:ln w="12700">
            <a:solidFill>
              <a:srgbClr val="C0392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9"/>
          <p:cNvSpPr/>
          <p:nvPr/>
        </p:nvSpPr>
        <p:spPr>
          <a:xfrm>
            <a:off x="475560" y="3108960"/>
            <a:ext cx="3803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Limitations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0"/>
          <p:cNvSpPr/>
          <p:nvPr/>
        </p:nvSpPr>
        <p:spPr>
          <a:xfrm>
            <a:off x="475560" y="3493080"/>
            <a:ext cx="38030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Single platform — may not generalize to newer fraud tactics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English-language only — multilingual adaptation needed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~10% of fraud still missed even at tuned threshold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1"/>
          <p:cNvSpPr/>
          <p:nvPr/>
        </p:nvSpPr>
        <p:spPr>
          <a:xfrm>
            <a:off x="4663440" y="3035880"/>
            <a:ext cx="4022640" cy="1873800"/>
          </a:xfrm>
          <a:prstGeom prst="rect">
            <a:avLst/>
          </a:prstGeom>
          <a:solidFill>
            <a:srgbClr val="0A1428"/>
          </a:solidFill>
          <a:ln w="12700">
            <a:solidFill>
              <a:srgbClr val="E8A02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2"/>
          <p:cNvSpPr/>
          <p:nvPr/>
        </p:nvSpPr>
        <p:spPr>
          <a:xfrm>
            <a:off x="4773240" y="3108960"/>
            <a:ext cx="3803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Future Work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3"/>
          <p:cNvSpPr/>
          <p:nvPr/>
        </p:nvSpPr>
        <p:spPr>
          <a:xfrm>
            <a:off x="4773240" y="3493080"/>
            <a:ext cx="38030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BERT/RoBERTa embeddings for richer semantic signals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Temporal features: posting date, duration, lifecycle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Active learning with human reviewer feedback loop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75000" p14:dur="2000"/>
    </mc:Choice>
    <mc:Fallback>
      <p:transition spd="slow" advTm="75000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172200" y="320040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308" name="Shape 0"/>
          <p:cNvSpPr/>
          <p:nvPr/>
        </p:nvSpPr>
        <p:spPr>
          <a:xfrm>
            <a:off x="0" y="0"/>
            <a:ext cx="9143280" cy="10908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"/>
          <p:cNvSpPr/>
          <p:nvPr/>
        </p:nvSpPr>
        <p:spPr>
          <a:xfrm>
            <a:off x="0" y="109800"/>
            <a:ext cx="163800" cy="503316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457200" y="82296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457200" y="1810440"/>
            <a:ext cx="2925360" cy="63360"/>
          </a:xfrm>
          <a:prstGeom prst="rect">
            <a:avLst/>
          </a:prstGeom>
          <a:solidFill>
            <a:srgbClr val="E8A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457200" y="1993320"/>
            <a:ext cx="8228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Predicting Fraudulent Job Postings Using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Machine Learning and Natural Language Processing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365760" y="2944440"/>
            <a:ext cx="1919520" cy="1325160"/>
          </a:xfrm>
          <a:prstGeom prst="rect">
            <a:avLst/>
          </a:prstGeom>
          <a:solidFill>
            <a:srgbClr val="1A6B3C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365760" y="3017520"/>
            <a:ext cx="191952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90.2%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365760" y="3713400"/>
            <a:ext cx="19195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Recall on Fraud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(LR Tuned)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2541960" y="2944440"/>
            <a:ext cx="1919520" cy="132516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2541960" y="3017520"/>
            <a:ext cx="191952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0.812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0"/>
          <p:cNvSpPr/>
          <p:nvPr/>
        </p:nvSpPr>
        <p:spPr>
          <a:xfrm>
            <a:off x="2541960" y="3713400"/>
            <a:ext cx="19195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Best F1 Score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1"/>
          <p:cNvSpPr/>
          <p:nvPr/>
        </p:nvSpPr>
        <p:spPr>
          <a:xfrm>
            <a:off x="4718160" y="2944440"/>
            <a:ext cx="1919520" cy="1325160"/>
          </a:xfrm>
          <a:prstGeom prst="rect">
            <a:avLst/>
          </a:prstGeom>
          <a:solidFill>
            <a:srgbClr val="1E5FA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2"/>
          <p:cNvSpPr/>
          <p:nvPr/>
        </p:nvSpPr>
        <p:spPr>
          <a:xfrm>
            <a:off x="4718160" y="3017520"/>
            <a:ext cx="191952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4718160" y="3713400"/>
            <a:ext cx="19195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False Positives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(vs 68 default)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4"/>
          <p:cNvSpPr/>
          <p:nvPr/>
        </p:nvSpPr>
        <p:spPr>
          <a:xfrm>
            <a:off x="6894720" y="2944440"/>
            <a:ext cx="1919520" cy="1325160"/>
          </a:xfrm>
          <a:prstGeom prst="rect">
            <a:avLst/>
          </a:prstGeom>
          <a:solidFill>
            <a:srgbClr val="0D1B3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6894720" y="3017520"/>
            <a:ext cx="191952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7,954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6894720" y="3713400"/>
            <a:ext cx="19195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Total Features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EFF"/>
                </a:solidFill>
                <a:effectLst/>
                <a:uFillTx/>
                <a:latin typeface="Calibri"/>
                <a:ea typeface="Calibri"/>
              </a:rPr>
              <a:t>Engineered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457200" y="4736520"/>
            <a:ext cx="8320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Timothy Hollis  |  DSC630 Predictive Analytics  |  Bellevue University  |  May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2026-05-23T01:06:18Z</dcterms:created>
  <dc:creator>Timothy Hollis</dc:creator>
  <dc:description/>
  <dc:language>en-US</dc:language>
  <cp:lastModifiedBy/>
  <dcterms:modified xsi:type="dcterms:W3CDTF">2026-05-22T22:42:53Z</dcterms:modified>
  <cp:revision>16</cp:revision>
  <dc:subject>PptxGenJS Presentation</dc:subject>
  <dc:title>Predicting Fraudulent Job Postings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